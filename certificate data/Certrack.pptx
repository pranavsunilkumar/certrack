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x="18288000" cy="10287000"/>
  <p:notesSz cx="6858000" cy="9144000"/>
  <p:embeddedFontLst>
    <p:embeddedFont>
      <p:font typeface="Noto Serif Devanagari Bold" charset="1" panose="00000000000000000000"/>
      <p:regular r:id="rId20"/>
    </p:embeddedFont>
    <p:embeddedFont>
      <p:font typeface="Gowun Batang" charset="1" panose="00000000000000000000"/>
      <p:regular r:id="rId21"/>
    </p:embeddedFont>
    <p:embeddedFont>
      <p:font typeface="Nunito Sans Italics" charset="1" panose="00000000000000000000"/>
      <p:regular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jpe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8.png" Type="http://schemas.openxmlformats.org/officeDocument/2006/relationships/image"/><Relationship Id="rId9" Target="../media/image9.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jpe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8.png" Type="http://schemas.openxmlformats.org/officeDocument/2006/relationships/image"/><Relationship Id="rId9" Target="../media/image9.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jpe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jpe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jpe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jpe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EEEFF4"/>
        </a:solidFill>
      </p:bgPr>
    </p:bg>
    <p:spTree>
      <p:nvGrpSpPr>
        <p:cNvPr id="1" name=""/>
        <p:cNvGrpSpPr/>
        <p:nvPr/>
      </p:nvGrpSpPr>
      <p:grpSpPr>
        <a:xfrm>
          <a:off x="0" y="0"/>
          <a:ext cx="0" cy="0"/>
          <a:chOff x="0" y="0"/>
          <a:chExt cx="0" cy="0"/>
        </a:xfrm>
      </p:grpSpPr>
      <p:sp>
        <p:nvSpPr>
          <p:cNvPr name="Freeform 2" id="2"/>
          <p:cNvSpPr/>
          <p:nvPr/>
        </p:nvSpPr>
        <p:spPr>
          <a:xfrm flipH="false" flipV="false" rot="0">
            <a:off x="528638" y="564356"/>
            <a:ext cx="4149089" cy="2661592"/>
          </a:xfrm>
          <a:custGeom>
            <a:avLst/>
            <a:gdLst/>
            <a:ahLst/>
            <a:cxnLst/>
            <a:rect r="r" b="b" t="t" l="l"/>
            <a:pathLst>
              <a:path h="2661592" w="4149089">
                <a:moveTo>
                  <a:pt x="0" y="0"/>
                </a:moveTo>
                <a:lnTo>
                  <a:pt x="4149089" y="0"/>
                </a:lnTo>
                <a:lnTo>
                  <a:pt x="4149089" y="2661592"/>
                </a:lnTo>
                <a:lnTo>
                  <a:pt x="0" y="26615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3610273" y="7061052"/>
            <a:ext cx="4149089" cy="2661592"/>
          </a:xfrm>
          <a:custGeom>
            <a:avLst/>
            <a:gdLst/>
            <a:ahLst/>
            <a:cxnLst/>
            <a:rect r="r" b="b" t="t" l="l"/>
            <a:pathLst>
              <a:path h="2661592" w="4149089">
                <a:moveTo>
                  <a:pt x="4149089" y="2661592"/>
                </a:moveTo>
                <a:lnTo>
                  <a:pt x="0" y="2661592"/>
                </a:lnTo>
                <a:lnTo>
                  <a:pt x="0" y="0"/>
                </a:lnTo>
                <a:lnTo>
                  <a:pt x="4149089" y="0"/>
                </a:lnTo>
                <a:lnTo>
                  <a:pt x="4149089" y="2661592"/>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true" rot="0">
            <a:off x="528638" y="7061052"/>
            <a:ext cx="4149089" cy="2661592"/>
          </a:xfrm>
          <a:custGeom>
            <a:avLst/>
            <a:gdLst/>
            <a:ahLst/>
            <a:cxnLst/>
            <a:rect r="r" b="b" t="t" l="l"/>
            <a:pathLst>
              <a:path h="2661592" w="4149089">
                <a:moveTo>
                  <a:pt x="0" y="2661592"/>
                </a:moveTo>
                <a:lnTo>
                  <a:pt x="4149089" y="2661592"/>
                </a:lnTo>
                <a:lnTo>
                  <a:pt x="4149089" y="0"/>
                </a:lnTo>
                <a:lnTo>
                  <a:pt x="0" y="0"/>
                </a:lnTo>
                <a:lnTo>
                  <a:pt x="0" y="2661592"/>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true" flipV="false" rot="0">
            <a:off x="13610273" y="564356"/>
            <a:ext cx="4149089" cy="2661592"/>
          </a:xfrm>
          <a:custGeom>
            <a:avLst/>
            <a:gdLst/>
            <a:ahLst/>
            <a:cxnLst/>
            <a:rect r="r" b="b" t="t" l="l"/>
            <a:pathLst>
              <a:path h="2661592" w="4149089">
                <a:moveTo>
                  <a:pt x="4149089" y="0"/>
                </a:moveTo>
                <a:lnTo>
                  <a:pt x="0" y="0"/>
                </a:lnTo>
                <a:lnTo>
                  <a:pt x="0" y="2661592"/>
                </a:lnTo>
                <a:lnTo>
                  <a:pt x="4149089" y="2661592"/>
                </a:lnTo>
                <a:lnTo>
                  <a:pt x="4149089"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3691695" y="4096430"/>
            <a:ext cx="4720395" cy="2094139"/>
          </a:xfrm>
          <a:custGeom>
            <a:avLst/>
            <a:gdLst/>
            <a:ahLst/>
            <a:cxnLst/>
            <a:rect r="r" b="b" t="t" l="l"/>
            <a:pathLst>
              <a:path h="2094139" w="4720395">
                <a:moveTo>
                  <a:pt x="0" y="0"/>
                </a:moveTo>
                <a:lnTo>
                  <a:pt x="4720395" y="0"/>
                </a:lnTo>
                <a:lnTo>
                  <a:pt x="4720395" y="2094140"/>
                </a:lnTo>
                <a:lnTo>
                  <a:pt x="0" y="209414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17259300" y="4096430"/>
            <a:ext cx="4720395" cy="2094139"/>
          </a:xfrm>
          <a:custGeom>
            <a:avLst/>
            <a:gdLst/>
            <a:ahLst/>
            <a:cxnLst/>
            <a:rect r="r" b="b" t="t" l="l"/>
            <a:pathLst>
              <a:path h="2094139" w="4720395">
                <a:moveTo>
                  <a:pt x="0" y="0"/>
                </a:moveTo>
                <a:lnTo>
                  <a:pt x="4720395" y="0"/>
                </a:lnTo>
                <a:lnTo>
                  <a:pt x="4720395" y="2094140"/>
                </a:lnTo>
                <a:lnTo>
                  <a:pt x="0" y="209414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1028700" y="1028700"/>
            <a:ext cx="1268369" cy="1484056"/>
          </a:xfrm>
          <a:custGeom>
            <a:avLst/>
            <a:gdLst/>
            <a:ahLst/>
            <a:cxnLst/>
            <a:rect r="r" b="b" t="t" l="l"/>
            <a:pathLst>
              <a:path h="1484056" w="1268369">
                <a:moveTo>
                  <a:pt x="0" y="0"/>
                </a:moveTo>
                <a:lnTo>
                  <a:pt x="1268369" y="0"/>
                </a:lnTo>
                <a:lnTo>
                  <a:pt x="1268369" y="1484056"/>
                </a:lnTo>
                <a:lnTo>
                  <a:pt x="0" y="148405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true" rot="0">
            <a:off x="1028700" y="7774244"/>
            <a:ext cx="1268369" cy="1484056"/>
          </a:xfrm>
          <a:custGeom>
            <a:avLst/>
            <a:gdLst/>
            <a:ahLst/>
            <a:cxnLst/>
            <a:rect r="r" b="b" t="t" l="l"/>
            <a:pathLst>
              <a:path h="1484056" w="1268369">
                <a:moveTo>
                  <a:pt x="0" y="1484056"/>
                </a:moveTo>
                <a:lnTo>
                  <a:pt x="1268369" y="1484056"/>
                </a:lnTo>
                <a:lnTo>
                  <a:pt x="1268369" y="0"/>
                </a:lnTo>
                <a:lnTo>
                  <a:pt x="0" y="0"/>
                </a:lnTo>
                <a:lnTo>
                  <a:pt x="0" y="1484056"/>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0" id="10"/>
          <p:cNvSpPr/>
          <p:nvPr/>
        </p:nvSpPr>
        <p:spPr>
          <a:xfrm flipH="true" flipV="false" rot="0">
            <a:off x="15990931" y="1028700"/>
            <a:ext cx="1268369" cy="1484056"/>
          </a:xfrm>
          <a:custGeom>
            <a:avLst/>
            <a:gdLst/>
            <a:ahLst/>
            <a:cxnLst/>
            <a:rect r="r" b="b" t="t" l="l"/>
            <a:pathLst>
              <a:path h="1484056" w="1268369">
                <a:moveTo>
                  <a:pt x="1268369" y="0"/>
                </a:moveTo>
                <a:lnTo>
                  <a:pt x="0" y="0"/>
                </a:lnTo>
                <a:lnTo>
                  <a:pt x="0" y="1484056"/>
                </a:lnTo>
                <a:lnTo>
                  <a:pt x="1268369" y="1484056"/>
                </a:lnTo>
                <a:lnTo>
                  <a:pt x="1268369"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1" id="11"/>
          <p:cNvSpPr/>
          <p:nvPr/>
        </p:nvSpPr>
        <p:spPr>
          <a:xfrm flipH="true" flipV="true" rot="0">
            <a:off x="15990931" y="7774244"/>
            <a:ext cx="1268369" cy="1484056"/>
          </a:xfrm>
          <a:custGeom>
            <a:avLst/>
            <a:gdLst/>
            <a:ahLst/>
            <a:cxnLst/>
            <a:rect r="r" b="b" t="t" l="l"/>
            <a:pathLst>
              <a:path h="1484056" w="1268369">
                <a:moveTo>
                  <a:pt x="1268369" y="1484056"/>
                </a:moveTo>
                <a:lnTo>
                  <a:pt x="0" y="1484056"/>
                </a:lnTo>
                <a:lnTo>
                  <a:pt x="0" y="0"/>
                </a:lnTo>
                <a:lnTo>
                  <a:pt x="1268369" y="0"/>
                </a:lnTo>
                <a:lnTo>
                  <a:pt x="1268369" y="1484056"/>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2" id="12"/>
          <p:cNvSpPr/>
          <p:nvPr/>
        </p:nvSpPr>
        <p:spPr>
          <a:xfrm flipH="false" flipV="false" rot="0">
            <a:off x="5341467" y="284044"/>
            <a:ext cx="1611108" cy="1611108"/>
          </a:xfrm>
          <a:custGeom>
            <a:avLst/>
            <a:gdLst/>
            <a:ahLst/>
            <a:cxnLst/>
            <a:rect r="r" b="b" t="t" l="l"/>
            <a:pathLst>
              <a:path h="1611108" w="1611108">
                <a:moveTo>
                  <a:pt x="0" y="0"/>
                </a:moveTo>
                <a:lnTo>
                  <a:pt x="1611109" y="0"/>
                </a:lnTo>
                <a:lnTo>
                  <a:pt x="1611109" y="1611108"/>
                </a:lnTo>
                <a:lnTo>
                  <a:pt x="0" y="1611108"/>
                </a:lnTo>
                <a:lnTo>
                  <a:pt x="0" y="0"/>
                </a:lnTo>
                <a:close/>
              </a:path>
            </a:pathLst>
          </a:custGeom>
          <a:blipFill>
            <a:blip r:embed="rId8"/>
            <a:stretch>
              <a:fillRect l="0" t="0" r="0" b="0"/>
            </a:stretch>
          </a:blipFill>
        </p:spPr>
      </p:sp>
      <p:sp>
        <p:nvSpPr>
          <p:cNvPr name="TextBox 13" id="13"/>
          <p:cNvSpPr txBox="true"/>
          <p:nvPr/>
        </p:nvSpPr>
        <p:spPr>
          <a:xfrm rot="0">
            <a:off x="3282488" y="3938430"/>
            <a:ext cx="12175895" cy="1704889"/>
          </a:xfrm>
          <a:prstGeom prst="rect">
            <a:avLst/>
          </a:prstGeom>
        </p:spPr>
        <p:txBody>
          <a:bodyPr anchor="t" rtlCol="false" tIns="0" lIns="0" bIns="0" rIns="0">
            <a:spAutoFit/>
          </a:bodyPr>
          <a:lstStyle/>
          <a:p>
            <a:pPr algn="ctr">
              <a:lnSpc>
                <a:spcPts val="13911"/>
              </a:lnSpc>
            </a:pPr>
            <a:r>
              <a:rPr lang="en-US" b="true" sz="9936">
                <a:solidFill>
                  <a:srgbClr val="545454"/>
                </a:solidFill>
                <a:latin typeface="Noto Serif Devanagari Bold"/>
                <a:ea typeface="Noto Serif Devanagari Bold"/>
                <a:cs typeface="Noto Serif Devanagari Bold"/>
                <a:sym typeface="Noto Serif Devanagari Bold"/>
              </a:rPr>
              <a:t>CERTRACK</a:t>
            </a:r>
          </a:p>
        </p:txBody>
      </p:sp>
      <p:sp>
        <p:nvSpPr>
          <p:cNvPr name="TextBox 14" id="14"/>
          <p:cNvSpPr txBox="true"/>
          <p:nvPr/>
        </p:nvSpPr>
        <p:spPr>
          <a:xfrm rot="0">
            <a:off x="3282488" y="5294470"/>
            <a:ext cx="12175895" cy="1749425"/>
          </a:xfrm>
          <a:prstGeom prst="rect">
            <a:avLst/>
          </a:prstGeom>
        </p:spPr>
        <p:txBody>
          <a:bodyPr anchor="t" rtlCol="false" tIns="0" lIns="0" bIns="0" rIns="0">
            <a:spAutoFit/>
          </a:bodyPr>
          <a:lstStyle/>
          <a:p>
            <a:pPr algn="ctr">
              <a:lnSpc>
                <a:spcPts val="7000"/>
              </a:lnSpc>
            </a:pPr>
            <a:r>
              <a:rPr lang="en-US" sz="5000">
                <a:solidFill>
                  <a:srgbClr val="545454"/>
                </a:solidFill>
                <a:latin typeface="Gowun Batang"/>
                <a:ea typeface="Gowun Batang"/>
                <a:cs typeface="Gowun Batang"/>
                <a:sym typeface="Gowun Batang"/>
              </a:rPr>
              <a:t>More Than Just Certificate Tracking</a:t>
            </a:r>
          </a:p>
          <a:p>
            <a:pPr algn="ctr">
              <a:lnSpc>
                <a:spcPts val="7000"/>
              </a:lnSpc>
            </a:pPr>
          </a:p>
        </p:txBody>
      </p:sp>
      <p:sp>
        <p:nvSpPr>
          <p:cNvPr name="TextBox 15" id="15"/>
          <p:cNvSpPr txBox="true"/>
          <p:nvPr/>
        </p:nvSpPr>
        <p:spPr>
          <a:xfrm rot="0">
            <a:off x="7133551" y="628566"/>
            <a:ext cx="6297085" cy="819318"/>
          </a:xfrm>
          <a:prstGeom prst="rect">
            <a:avLst/>
          </a:prstGeom>
        </p:spPr>
        <p:txBody>
          <a:bodyPr anchor="t" rtlCol="false" tIns="0" lIns="0" bIns="0" rIns="0">
            <a:spAutoFit/>
          </a:bodyPr>
          <a:lstStyle/>
          <a:p>
            <a:pPr algn="ctr">
              <a:lnSpc>
                <a:spcPts val="3252"/>
              </a:lnSpc>
            </a:pPr>
            <a:r>
              <a:rPr lang="en-US" sz="2853" i="true">
                <a:solidFill>
                  <a:srgbClr val="545454"/>
                </a:solidFill>
                <a:latin typeface="Nunito Sans Italics"/>
                <a:ea typeface="Nunito Sans Italics"/>
                <a:cs typeface="Nunito Sans Italics"/>
                <a:sym typeface="Nunito Sans Italics"/>
              </a:rPr>
              <a:t>Dayananda Sagar Academy of Technology and management</a:t>
            </a:r>
          </a:p>
        </p:txBody>
      </p:sp>
      <p:sp>
        <p:nvSpPr>
          <p:cNvPr name="TextBox 16" id="16"/>
          <p:cNvSpPr txBox="true"/>
          <p:nvPr/>
        </p:nvSpPr>
        <p:spPr>
          <a:xfrm rot="0">
            <a:off x="6969976" y="9173028"/>
            <a:ext cx="4348047" cy="371185"/>
          </a:xfrm>
          <a:prstGeom prst="rect">
            <a:avLst/>
          </a:prstGeom>
        </p:spPr>
        <p:txBody>
          <a:bodyPr anchor="t" rtlCol="false" tIns="0" lIns="0" bIns="0" rIns="0">
            <a:spAutoFit/>
          </a:bodyPr>
          <a:lstStyle/>
          <a:p>
            <a:pPr algn="ctr">
              <a:lnSpc>
                <a:spcPts val="2806"/>
              </a:lnSpc>
            </a:pPr>
            <a:r>
              <a:rPr lang="en-US" sz="2461" i="true">
                <a:solidFill>
                  <a:srgbClr val="545454"/>
                </a:solidFill>
                <a:latin typeface="Nunito Sans Italics"/>
                <a:ea typeface="Nunito Sans Italics"/>
                <a:cs typeface="Nunito Sans Italics"/>
                <a:sym typeface="Nunito Sans Italics"/>
              </a:rPr>
              <a:t>www.certrack.com</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EEEFF4"/>
        </a:solidFill>
      </p:bgPr>
    </p:bg>
    <p:spTree>
      <p:nvGrpSpPr>
        <p:cNvPr id="1" name=""/>
        <p:cNvGrpSpPr/>
        <p:nvPr/>
      </p:nvGrpSpPr>
      <p:grpSpPr>
        <a:xfrm>
          <a:off x="0" y="0"/>
          <a:ext cx="0" cy="0"/>
          <a:chOff x="0" y="0"/>
          <a:chExt cx="0" cy="0"/>
        </a:xfrm>
      </p:grpSpPr>
      <p:sp>
        <p:nvSpPr>
          <p:cNvPr name="Freeform 2" id="2"/>
          <p:cNvSpPr/>
          <p:nvPr/>
        </p:nvSpPr>
        <p:spPr>
          <a:xfrm flipH="false" flipV="false" rot="0">
            <a:off x="222524" y="243735"/>
            <a:ext cx="4149089" cy="2661592"/>
          </a:xfrm>
          <a:custGeom>
            <a:avLst/>
            <a:gdLst/>
            <a:ahLst/>
            <a:cxnLst/>
            <a:rect r="r" b="b" t="t" l="l"/>
            <a:pathLst>
              <a:path h="2661592" w="4149089">
                <a:moveTo>
                  <a:pt x="0" y="0"/>
                </a:moveTo>
                <a:lnTo>
                  <a:pt x="4149089" y="0"/>
                </a:lnTo>
                <a:lnTo>
                  <a:pt x="4149089" y="2661592"/>
                </a:lnTo>
                <a:lnTo>
                  <a:pt x="0" y="26615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3916387" y="7185476"/>
            <a:ext cx="4149089" cy="2661592"/>
          </a:xfrm>
          <a:custGeom>
            <a:avLst/>
            <a:gdLst/>
            <a:ahLst/>
            <a:cxnLst/>
            <a:rect r="r" b="b" t="t" l="l"/>
            <a:pathLst>
              <a:path h="2661592" w="4149089">
                <a:moveTo>
                  <a:pt x="4149089" y="2661592"/>
                </a:moveTo>
                <a:lnTo>
                  <a:pt x="0" y="2661592"/>
                </a:lnTo>
                <a:lnTo>
                  <a:pt x="0" y="0"/>
                </a:lnTo>
                <a:lnTo>
                  <a:pt x="4149089" y="0"/>
                </a:lnTo>
                <a:lnTo>
                  <a:pt x="4149089" y="2661592"/>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true" rot="0">
            <a:off x="222524" y="7381195"/>
            <a:ext cx="4149089" cy="2661592"/>
          </a:xfrm>
          <a:custGeom>
            <a:avLst/>
            <a:gdLst/>
            <a:ahLst/>
            <a:cxnLst/>
            <a:rect r="r" b="b" t="t" l="l"/>
            <a:pathLst>
              <a:path h="2661592" w="4149089">
                <a:moveTo>
                  <a:pt x="0" y="2661591"/>
                </a:moveTo>
                <a:lnTo>
                  <a:pt x="4149089" y="2661591"/>
                </a:lnTo>
                <a:lnTo>
                  <a:pt x="4149089" y="0"/>
                </a:lnTo>
                <a:lnTo>
                  <a:pt x="0" y="0"/>
                </a:lnTo>
                <a:lnTo>
                  <a:pt x="0" y="2661591"/>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true" flipV="false" rot="0">
            <a:off x="13916387" y="243735"/>
            <a:ext cx="4149089" cy="2661592"/>
          </a:xfrm>
          <a:custGeom>
            <a:avLst/>
            <a:gdLst/>
            <a:ahLst/>
            <a:cxnLst/>
            <a:rect r="r" b="b" t="t" l="l"/>
            <a:pathLst>
              <a:path h="2661592" w="4149089">
                <a:moveTo>
                  <a:pt x="4149089" y="0"/>
                </a:moveTo>
                <a:lnTo>
                  <a:pt x="0" y="0"/>
                </a:lnTo>
                <a:lnTo>
                  <a:pt x="0" y="2661592"/>
                </a:lnTo>
                <a:lnTo>
                  <a:pt x="4149089" y="2661592"/>
                </a:lnTo>
                <a:lnTo>
                  <a:pt x="4149089"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3691695" y="4096430"/>
            <a:ext cx="4720395" cy="2094139"/>
          </a:xfrm>
          <a:custGeom>
            <a:avLst/>
            <a:gdLst/>
            <a:ahLst/>
            <a:cxnLst/>
            <a:rect r="r" b="b" t="t" l="l"/>
            <a:pathLst>
              <a:path h="2094139" w="4720395">
                <a:moveTo>
                  <a:pt x="0" y="0"/>
                </a:moveTo>
                <a:lnTo>
                  <a:pt x="4720395" y="0"/>
                </a:lnTo>
                <a:lnTo>
                  <a:pt x="4720395" y="2094140"/>
                </a:lnTo>
                <a:lnTo>
                  <a:pt x="0" y="209414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17259300" y="4096430"/>
            <a:ext cx="4720395" cy="2094139"/>
          </a:xfrm>
          <a:custGeom>
            <a:avLst/>
            <a:gdLst/>
            <a:ahLst/>
            <a:cxnLst/>
            <a:rect r="r" b="b" t="t" l="l"/>
            <a:pathLst>
              <a:path h="2094139" w="4720395">
                <a:moveTo>
                  <a:pt x="0" y="0"/>
                </a:moveTo>
                <a:lnTo>
                  <a:pt x="4720395" y="0"/>
                </a:lnTo>
                <a:lnTo>
                  <a:pt x="4720395" y="2094140"/>
                </a:lnTo>
                <a:lnTo>
                  <a:pt x="0" y="209414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785266" y="853971"/>
            <a:ext cx="1268369" cy="1484056"/>
          </a:xfrm>
          <a:custGeom>
            <a:avLst/>
            <a:gdLst/>
            <a:ahLst/>
            <a:cxnLst/>
            <a:rect r="r" b="b" t="t" l="l"/>
            <a:pathLst>
              <a:path h="1484056" w="1268369">
                <a:moveTo>
                  <a:pt x="0" y="0"/>
                </a:moveTo>
                <a:lnTo>
                  <a:pt x="1268369" y="0"/>
                </a:lnTo>
                <a:lnTo>
                  <a:pt x="1268369" y="1484056"/>
                </a:lnTo>
                <a:lnTo>
                  <a:pt x="0" y="148405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true" rot="0">
            <a:off x="785266" y="7969962"/>
            <a:ext cx="1268369" cy="1484056"/>
          </a:xfrm>
          <a:custGeom>
            <a:avLst/>
            <a:gdLst/>
            <a:ahLst/>
            <a:cxnLst/>
            <a:rect r="r" b="b" t="t" l="l"/>
            <a:pathLst>
              <a:path h="1484056" w="1268369">
                <a:moveTo>
                  <a:pt x="0" y="1484056"/>
                </a:moveTo>
                <a:lnTo>
                  <a:pt x="1268369" y="1484056"/>
                </a:lnTo>
                <a:lnTo>
                  <a:pt x="1268369" y="0"/>
                </a:lnTo>
                <a:lnTo>
                  <a:pt x="0" y="0"/>
                </a:lnTo>
                <a:lnTo>
                  <a:pt x="0" y="1484056"/>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0" id="10"/>
          <p:cNvSpPr/>
          <p:nvPr/>
        </p:nvSpPr>
        <p:spPr>
          <a:xfrm flipH="true" flipV="false" rot="0">
            <a:off x="16299453" y="853971"/>
            <a:ext cx="1268369" cy="1484056"/>
          </a:xfrm>
          <a:custGeom>
            <a:avLst/>
            <a:gdLst/>
            <a:ahLst/>
            <a:cxnLst/>
            <a:rect r="r" b="b" t="t" l="l"/>
            <a:pathLst>
              <a:path h="1484056" w="1268369">
                <a:moveTo>
                  <a:pt x="1268369" y="0"/>
                </a:moveTo>
                <a:lnTo>
                  <a:pt x="0" y="0"/>
                </a:lnTo>
                <a:lnTo>
                  <a:pt x="0" y="1484056"/>
                </a:lnTo>
                <a:lnTo>
                  <a:pt x="1268369" y="1484056"/>
                </a:lnTo>
                <a:lnTo>
                  <a:pt x="1268369"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1" id="11"/>
          <p:cNvSpPr/>
          <p:nvPr/>
        </p:nvSpPr>
        <p:spPr>
          <a:xfrm flipH="true" flipV="true" rot="0">
            <a:off x="16299453" y="7774244"/>
            <a:ext cx="1268369" cy="1484056"/>
          </a:xfrm>
          <a:custGeom>
            <a:avLst/>
            <a:gdLst/>
            <a:ahLst/>
            <a:cxnLst/>
            <a:rect r="r" b="b" t="t" l="l"/>
            <a:pathLst>
              <a:path h="1484056" w="1268369">
                <a:moveTo>
                  <a:pt x="1268369" y="1484056"/>
                </a:moveTo>
                <a:lnTo>
                  <a:pt x="0" y="1484056"/>
                </a:lnTo>
                <a:lnTo>
                  <a:pt x="0" y="0"/>
                </a:lnTo>
                <a:lnTo>
                  <a:pt x="1268369" y="0"/>
                </a:lnTo>
                <a:lnTo>
                  <a:pt x="1268369" y="1484056"/>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2" id="12"/>
          <p:cNvSpPr txBox="true"/>
          <p:nvPr/>
        </p:nvSpPr>
        <p:spPr>
          <a:xfrm rot="0">
            <a:off x="1419450" y="1790601"/>
            <a:ext cx="8890599" cy="1277474"/>
          </a:xfrm>
          <a:prstGeom prst="rect">
            <a:avLst/>
          </a:prstGeom>
        </p:spPr>
        <p:txBody>
          <a:bodyPr anchor="t" rtlCol="false" tIns="0" lIns="0" bIns="0" rIns="0">
            <a:spAutoFit/>
          </a:bodyPr>
          <a:lstStyle/>
          <a:p>
            <a:pPr algn="ctr">
              <a:lnSpc>
                <a:spcPts val="10438"/>
              </a:lnSpc>
            </a:pPr>
            <a:r>
              <a:rPr lang="en-US" b="true" sz="7455">
                <a:solidFill>
                  <a:srgbClr val="545454"/>
                </a:solidFill>
                <a:latin typeface="Noto Serif Devanagari Bold"/>
                <a:ea typeface="Noto Serif Devanagari Bold"/>
                <a:cs typeface="Noto Serif Devanagari Bold"/>
                <a:sym typeface="Noto Serif Devanagari Bold"/>
              </a:rPr>
              <a:t>INTRODUCTION</a:t>
            </a:r>
          </a:p>
        </p:txBody>
      </p:sp>
      <p:sp>
        <p:nvSpPr>
          <p:cNvPr name="TextBox 13" id="13"/>
          <p:cNvSpPr txBox="true"/>
          <p:nvPr/>
        </p:nvSpPr>
        <p:spPr>
          <a:xfrm rot="0">
            <a:off x="2297069" y="3333294"/>
            <a:ext cx="13695001" cy="6120725"/>
          </a:xfrm>
          <a:prstGeom prst="rect">
            <a:avLst/>
          </a:prstGeom>
        </p:spPr>
        <p:txBody>
          <a:bodyPr anchor="t" rtlCol="false" tIns="0" lIns="0" bIns="0" rIns="0">
            <a:spAutoFit/>
          </a:bodyPr>
          <a:lstStyle/>
          <a:p>
            <a:pPr algn="just">
              <a:lnSpc>
                <a:spcPts val="4441"/>
              </a:lnSpc>
            </a:pPr>
            <a:r>
              <a:rPr lang="en-US" sz="3172">
                <a:solidFill>
                  <a:srgbClr val="545454"/>
                </a:solidFill>
                <a:latin typeface="Gowun Batang"/>
                <a:ea typeface="Gowun Batang"/>
                <a:cs typeface="Gowun Batang"/>
                <a:sym typeface="Gowun Batang"/>
              </a:rPr>
              <a:t>In today’s education system, students collect many certificates from online courses, contests, internships and workshops, but these documents are scattered across emails, folders, cloud drives and paper, making them hard to find when needed for placements or scholarships.​</a:t>
            </a:r>
          </a:p>
          <a:p>
            <a:pPr algn="just">
              <a:lnSpc>
                <a:spcPts val="4441"/>
              </a:lnSpc>
            </a:pPr>
          </a:p>
          <a:p>
            <a:pPr algn="just">
              <a:lnSpc>
                <a:spcPts val="4441"/>
              </a:lnSpc>
            </a:pPr>
            <a:r>
              <a:rPr lang="en-US" sz="3172">
                <a:solidFill>
                  <a:srgbClr val="545454"/>
                </a:solidFill>
                <a:latin typeface="Gowun Batang"/>
                <a:ea typeface="Gowun Batang"/>
                <a:cs typeface="Gowun Batang"/>
                <a:sym typeface="Gowun Batang"/>
              </a:rPr>
              <a:t>CerTrack is a web-based Certificate Tracking &amp; Educational Portal Management System with separate logins for students, teachers and administrators, where students can store and categorise certificates, build resumes, explore competitions and submit leave requests, while staff can review requests and view achievements.</a:t>
            </a:r>
          </a:p>
          <a:p>
            <a:pPr algn="just">
              <a:lnSpc>
                <a:spcPts val="4441"/>
              </a:lnSpc>
            </a:pPr>
          </a:p>
        </p:txBody>
      </p:sp>
      <p:sp>
        <p:nvSpPr>
          <p:cNvPr name="TextBox 14" id="14"/>
          <p:cNvSpPr txBox="true"/>
          <p:nvPr/>
        </p:nvSpPr>
        <p:spPr>
          <a:xfrm rot="0">
            <a:off x="7602475" y="262785"/>
            <a:ext cx="5415148" cy="821908"/>
          </a:xfrm>
          <a:prstGeom prst="rect">
            <a:avLst/>
          </a:prstGeom>
        </p:spPr>
        <p:txBody>
          <a:bodyPr anchor="t" rtlCol="false" tIns="0" lIns="0" bIns="0" rIns="0">
            <a:spAutoFit/>
          </a:bodyPr>
          <a:lstStyle/>
          <a:p>
            <a:pPr algn="ctr">
              <a:lnSpc>
                <a:spcPts val="3262"/>
              </a:lnSpc>
            </a:pPr>
            <a:r>
              <a:rPr lang="en-US" sz="2861" i="true">
                <a:solidFill>
                  <a:srgbClr val="545454"/>
                </a:solidFill>
                <a:latin typeface="Nunito Sans Italics"/>
                <a:ea typeface="Nunito Sans Italics"/>
                <a:cs typeface="Nunito Sans Italics"/>
                <a:sym typeface="Nunito Sans Italics"/>
              </a:rPr>
              <a:t>Dayananda Sagar Academy of Technology and management</a:t>
            </a:r>
          </a:p>
        </p:txBody>
      </p:sp>
      <p:sp>
        <p:nvSpPr>
          <p:cNvPr name="Freeform 15" id="15"/>
          <p:cNvSpPr/>
          <p:nvPr/>
        </p:nvSpPr>
        <p:spPr>
          <a:xfrm flipH="false" flipV="false" rot="0">
            <a:off x="5398545" y="0"/>
            <a:ext cx="1611108" cy="1611108"/>
          </a:xfrm>
          <a:custGeom>
            <a:avLst/>
            <a:gdLst/>
            <a:ahLst/>
            <a:cxnLst/>
            <a:rect r="r" b="b" t="t" l="l"/>
            <a:pathLst>
              <a:path h="1611108" w="1611108">
                <a:moveTo>
                  <a:pt x="0" y="0"/>
                </a:moveTo>
                <a:lnTo>
                  <a:pt x="1611108" y="0"/>
                </a:lnTo>
                <a:lnTo>
                  <a:pt x="1611108" y="1611108"/>
                </a:lnTo>
                <a:lnTo>
                  <a:pt x="0" y="1611108"/>
                </a:lnTo>
                <a:lnTo>
                  <a:pt x="0" y="0"/>
                </a:lnTo>
                <a:close/>
              </a:path>
            </a:pathLst>
          </a:custGeom>
          <a:blipFill>
            <a:blip r:embed="rId8"/>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EEEFF4"/>
        </a:solidFill>
      </p:bgPr>
    </p:bg>
    <p:spTree>
      <p:nvGrpSpPr>
        <p:cNvPr id="1" name=""/>
        <p:cNvGrpSpPr/>
        <p:nvPr/>
      </p:nvGrpSpPr>
      <p:grpSpPr>
        <a:xfrm>
          <a:off x="0" y="0"/>
          <a:ext cx="0" cy="0"/>
          <a:chOff x="0" y="0"/>
          <a:chExt cx="0" cy="0"/>
        </a:xfrm>
      </p:grpSpPr>
      <p:sp>
        <p:nvSpPr>
          <p:cNvPr name="Freeform 2" id="2"/>
          <p:cNvSpPr/>
          <p:nvPr/>
        </p:nvSpPr>
        <p:spPr>
          <a:xfrm flipH="false" flipV="false" rot="0">
            <a:off x="0" y="37257"/>
            <a:ext cx="4149089" cy="2661592"/>
          </a:xfrm>
          <a:custGeom>
            <a:avLst/>
            <a:gdLst/>
            <a:ahLst/>
            <a:cxnLst/>
            <a:rect r="r" b="b" t="t" l="l"/>
            <a:pathLst>
              <a:path h="2661592" w="4149089">
                <a:moveTo>
                  <a:pt x="0" y="0"/>
                </a:moveTo>
                <a:lnTo>
                  <a:pt x="4149089" y="0"/>
                </a:lnTo>
                <a:lnTo>
                  <a:pt x="4149089" y="2661592"/>
                </a:lnTo>
                <a:lnTo>
                  <a:pt x="0" y="26615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4138911" y="7625408"/>
            <a:ext cx="4149089" cy="2661592"/>
          </a:xfrm>
          <a:custGeom>
            <a:avLst/>
            <a:gdLst/>
            <a:ahLst/>
            <a:cxnLst/>
            <a:rect r="r" b="b" t="t" l="l"/>
            <a:pathLst>
              <a:path h="2661592" w="4149089">
                <a:moveTo>
                  <a:pt x="4149089" y="2661592"/>
                </a:moveTo>
                <a:lnTo>
                  <a:pt x="0" y="2661592"/>
                </a:lnTo>
                <a:lnTo>
                  <a:pt x="0" y="0"/>
                </a:lnTo>
                <a:lnTo>
                  <a:pt x="4149089" y="0"/>
                </a:lnTo>
                <a:lnTo>
                  <a:pt x="4149089" y="2661592"/>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true" rot="0">
            <a:off x="193321" y="7560804"/>
            <a:ext cx="4149089" cy="2661592"/>
          </a:xfrm>
          <a:custGeom>
            <a:avLst/>
            <a:gdLst/>
            <a:ahLst/>
            <a:cxnLst/>
            <a:rect r="r" b="b" t="t" l="l"/>
            <a:pathLst>
              <a:path h="2661592" w="4149089">
                <a:moveTo>
                  <a:pt x="0" y="2661592"/>
                </a:moveTo>
                <a:lnTo>
                  <a:pt x="4149090" y="2661592"/>
                </a:lnTo>
                <a:lnTo>
                  <a:pt x="4149090" y="0"/>
                </a:lnTo>
                <a:lnTo>
                  <a:pt x="0" y="0"/>
                </a:lnTo>
                <a:lnTo>
                  <a:pt x="0" y="2661592"/>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true" flipV="false" rot="0">
            <a:off x="13916387" y="37257"/>
            <a:ext cx="4149089" cy="2661592"/>
          </a:xfrm>
          <a:custGeom>
            <a:avLst/>
            <a:gdLst/>
            <a:ahLst/>
            <a:cxnLst/>
            <a:rect r="r" b="b" t="t" l="l"/>
            <a:pathLst>
              <a:path h="2661592" w="4149089">
                <a:moveTo>
                  <a:pt x="4149089" y="0"/>
                </a:moveTo>
                <a:lnTo>
                  <a:pt x="0" y="0"/>
                </a:lnTo>
                <a:lnTo>
                  <a:pt x="0" y="2661592"/>
                </a:lnTo>
                <a:lnTo>
                  <a:pt x="4149089" y="2661592"/>
                </a:lnTo>
                <a:lnTo>
                  <a:pt x="4149089"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3691695" y="4096430"/>
            <a:ext cx="4720395" cy="2094139"/>
          </a:xfrm>
          <a:custGeom>
            <a:avLst/>
            <a:gdLst/>
            <a:ahLst/>
            <a:cxnLst/>
            <a:rect r="r" b="b" t="t" l="l"/>
            <a:pathLst>
              <a:path h="2094139" w="4720395">
                <a:moveTo>
                  <a:pt x="0" y="0"/>
                </a:moveTo>
                <a:lnTo>
                  <a:pt x="4720395" y="0"/>
                </a:lnTo>
                <a:lnTo>
                  <a:pt x="4720395" y="2094140"/>
                </a:lnTo>
                <a:lnTo>
                  <a:pt x="0" y="209414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17259300" y="4096430"/>
            <a:ext cx="4720395" cy="2094139"/>
          </a:xfrm>
          <a:custGeom>
            <a:avLst/>
            <a:gdLst/>
            <a:ahLst/>
            <a:cxnLst/>
            <a:rect r="r" b="b" t="t" l="l"/>
            <a:pathLst>
              <a:path h="2094139" w="4720395">
                <a:moveTo>
                  <a:pt x="0" y="0"/>
                </a:moveTo>
                <a:lnTo>
                  <a:pt x="4720395" y="0"/>
                </a:lnTo>
                <a:lnTo>
                  <a:pt x="4720395" y="2094140"/>
                </a:lnTo>
                <a:lnTo>
                  <a:pt x="0" y="209414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528638" y="626025"/>
            <a:ext cx="1268369" cy="1484056"/>
          </a:xfrm>
          <a:custGeom>
            <a:avLst/>
            <a:gdLst/>
            <a:ahLst/>
            <a:cxnLst/>
            <a:rect r="r" b="b" t="t" l="l"/>
            <a:pathLst>
              <a:path h="1484056" w="1268369">
                <a:moveTo>
                  <a:pt x="0" y="0"/>
                </a:moveTo>
                <a:lnTo>
                  <a:pt x="1268368" y="0"/>
                </a:lnTo>
                <a:lnTo>
                  <a:pt x="1268368" y="1484056"/>
                </a:lnTo>
                <a:lnTo>
                  <a:pt x="0" y="148405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true" rot="0">
            <a:off x="806176" y="8060158"/>
            <a:ext cx="1268369" cy="1484056"/>
          </a:xfrm>
          <a:custGeom>
            <a:avLst/>
            <a:gdLst/>
            <a:ahLst/>
            <a:cxnLst/>
            <a:rect r="r" b="b" t="t" l="l"/>
            <a:pathLst>
              <a:path h="1484056" w="1268369">
                <a:moveTo>
                  <a:pt x="0" y="1484056"/>
                </a:moveTo>
                <a:lnTo>
                  <a:pt x="1268369" y="1484056"/>
                </a:lnTo>
                <a:lnTo>
                  <a:pt x="1268369" y="0"/>
                </a:lnTo>
                <a:lnTo>
                  <a:pt x="0" y="0"/>
                </a:lnTo>
                <a:lnTo>
                  <a:pt x="0" y="1484056"/>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0" id="10"/>
          <p:cNvSpPr/>
          <p:nvPr/>
        </p:nvSpPr>
        <p:spPr>
          <a:xfrm flipH="true" flipV="false" rot="0">
            <a:off x="16213455" y="742786"/>
            <a:ext cx="1268369" cy="1484056"/>
          </a:xfrm>
          <a:custGeom>
            <a:avLst/>
            <a:gdLst/>
            <a:ahLst/>
            <a:cxnLst/>
            <a:rect r="r" b="b" t="t" l="l"/>
            <a:pathLst>
              <a:path h="1484056" w="1268369">
                <a:moveTo>
                  <a:pt x="1268369" y="0"/>
                </a:moveTo>
                <a:lnTo>
                  <a:pt x="0" y="0"/>
                </a:lnTo>
                <a:lnTo>
                  <a:pt x="0" y="1484056"/>
                </a:lnTo>
                <a:lnTo>
                  <a:pt x="1268369" y="1484056"/>
                </a:lnTo>
                <a:lnTo>
                  <a:pt x="1268369"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1" id="11"/>
          <p:cNvSpPr/>
          <p:nvPr/>
        </p:nvSpPr>
        <p:spPr>
          <a:xfrm flipH="true" flipV="true" rot="0">
            <a:off x="16490994" y="8149572"/>
            <a:ext cx="1268369" cy="1484056"/>
          </a:xfrm>
          <a:custGeom>
            <a:avLst/>
            <a:gdLst/>
            <a:ahLst/>
            <a:cxnLst/>
            <a:rect r="r" b="b" t="t" l="l"/>
            <a:pathLst>
              <a:path h="1484056" w="1268369">
                <a:moveTo>
                  <a:pt x="1268368" y="1484056"/>
                </a:moveTo>
                <a:lnTo>
                  <a:pt x="0" y="1484056"/>
                </a:lnTo>
                <a:lnTo>
                  <a:pt x="0" y="0"/>
                </a:lnTo>
                <a:lnTo>
                  <a:pt x="1268368" y="0"/>
                </a:lnTo>
                <a:lnTo>
                  <a:pt x="1268368" y="1484056"/>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2" id="12"/>
          <p:cNvSpPr txBox="true"/>
          <p:nvPr/>
        </p:nvSpPr>
        <p:spPr>
          <a:xfrm rot="0">
            <a:off x="3281011" y="2365723"/>
            <a:ext cx="11725979" cy="1277474"/>
          </a:xfrm>
          <a:prstGeom prst="rect">
            <a:avLst/>
          </a:prstGeom>
        </p:spPr>
        <p:txBody>
          <a:bodyPr anchor="t" rtlCol="false" tIns="0" lIns="0" bIns="0" rIns="0">
            <a:spAutoFit/>
          </a:bodyPr>
          <a:lstStyle/>
          <a:p>
            <a:pPr algn="ctr">
              <a:lnSpc>
                <a:spcPts val="10438"/>
              </a:lnSpc>
            </a:pPr>
            <a:r>
              <a:rPr lang="en-US" b="true" sz="7455">
                <a:solidFill>
                  <a:srgbClr val="545454"/>
                </a:solidFill>
                <a:latin typeface="Noto Serif Devanagari Bold"/>
                <a:ea typeface="Noto Serif Devanagari Bold"/>
                <a:cs typeface="Noto Serif Devanagari Bold"/>
                <a:sym typeface="Noto Serif Devanagari Bold"/>
              </a:rPr>
              <a:t>PROBLEM STATEMENT</a:t>
            </a:r>
          </a:p>
        </p:txBody>
      </p:sp>
      <p:sp>
        <p:nvSpPr>
          <p:cNvPr name="TextBox 13" id="13"/>
          <p:cNvSpPr txBox="true"/>
          <p:nvPr/>
        </p:nvSpPr>
        <p:spPr>
          <a:xfrm rot="0">
            <a:off x="1519468" y="3744126"/>
            <a:ext cx="14693987" cy="5212078"/>
          </a:xfrm>
          <a:prstGeom prst="rect">
            <a:avLst/>
          </a:prstGeom>
        </p:spPr>
        <p:txBody>
          <a:bodyPr anchor="t" rtlCol="false" tIns="0" lIns="0" bIns="0" rIns="0">
            <a:spAutoFit/>
          </a:bodyPr>
          <a:lstStyle/>
          <a:p>
            <a:pPr algn="just" marL="712483" indent="-356241" lvl="1">
              <a:lnSpc>
                <a:spcPts val="4620"/>
              </a:lnSpc>
              <a:buAutoNum type="arabicPeriod" startAt="1"/>
            </a:pPr>
            <a:r>
              <a:rPr lang="en-US" sz="3300">
                <a:solidFill>
                  <a:srgbClr val="545454"/>
                </a:solidFill>
                <a:latin typeface="Gowun Batang"/>
                <a:ea typeface="Gowun Batang"/>
                <a:cs typeface="Gowun Batang"/>
                <a:sym typeface="Gowun Batang"/>
              </a:rPr>
              <a:t>currently, when a student applies for placement or an internship, they waste 2-3 hours searching for scattered certificates across emails and downloads.</a:t>
            </a:r>
          </a:p>
          <a:p>
            <a:pPr algn="just" marL="712483" indent="-356241" lvl="1">
              <a:lnSpc>
                <a:spcPts val="4620"/>
              </a:lnSpc>
              <a:buAutoNum type="arabicPeriod" startAt="1"/>
            </a:pPr>
            <a:r>
              <a:rPr lang="en-US" sz="3300">
                <a:solidFill>
                  <a:srgbClr val="545454"/>
                </a:solidFill>
                <a:latin typeface="Gowun Batang"/>
                <a:ea typeface="Gowun Batang"/>
                <a:cs typeface="Gowun Batang"/>
                <a:sym typeface="Gowun Batang"/>
              </a:rPr>
              <a:t>Teachers spend days approving leave requests manually.</a:t>
            </a:r>
          </a:p>
          <a:p>
            <a:pPr algn="just" marL="712483" indent="-356241" lvl="1">
              <a:lnSpc>
                <a:spcPts val="4620"/>
              </a:lnSpc>
              <a:buAutoNum type="arabicPeriod" startAt="1"/>
            </a:pPr>
            <a:r>
              <a:rPr lang="en-US" sz="3300">
                <a:solidFill>
                  <a:srgbClr val="545454"/>
                </a:solidFill>
                <a:latin typeface="Gowun Batang"/>
                <a:ea typeface="Gowun Batang"/>
                <a:cs typeface="Gowun Batang"/>
                <a:sym typeface="Gowun Batang"/>
              </a:rPr>
              <a:t>Students often forget most achievements completely because there is no single place that reminds them what they have done over 3–4 years, so many good certificates never reach their resume or placement file.​</a:t>
            </a:r>
          </a:p>
          <a:p>
            <a:pPr algn="just">
              <a:lnSpc>
                <a:spcPts val="4620"/>
              </a:lnSpc>
            </a:pPr>
          </a:p>
          <a:p>
            <a:pPr algn="just">
              <a:lnSpc>
                <a:spcPts val="4620"/>
              </a:lnSpc>
            </a:pPr>
          </a:p>
        </p:txBody>
      </p:sp>
      <p:sp>
        <p:nvSpPr>
          <p:cNvPr name="TextBox 14" id="14"/>
          <p:cNvSpPr txBox="true"/>
          <p:nvPr/>
        </p:nvSpPr>
        <p:spPr>
          <a:xfrm rot="0">
            <a:off x="7801965" y="206792"/>
            <a:ext cx="5282434" cy="821908"/>
          </a:xfrm>
          <a:prstGeom prst="rect">
            <a:avLst/>
          </a:prstGeom>
        </p:spPr>
        <p:txBody>
          <a:bodyPr anchor="t" rtlCol="false" tIns="0" lIns="0" bIns="0" rIns="0">
            <a:spAutoFit/>
          </a:bodyPr>
          <a:lstStyle/>
          <a:p>
            <a:pPr algn="ctr">
              <a:lnSpc>
                <a:spcPts val="3262"/>
              </a:lnSpc>
            </a:pPr>
            <a:r>
              <a:rPr lang="en-US" sz="2861" i="true">
                <a:solidFill>
                  <a:srgbClr val="545454"/>
                </a:solidFill>
                <a:latin typeface="Nunito Sans Italics"/>
                <a:ea typeface="Nunito Sans Italics"/>
                <a:cs typeface="Nunito Sans Italics"/>
                <a:sym typeface="Nunito Sans Italics"/>
              </a:rPr>
              <a:t>Dayananda Sagar Academy of Technology and management</a:t>
            </a:r>
          </a:p>
        </p:txBody>
      </p:sp>
      <p:sp>
        <p:nvSpPr>
          <p:cNvPr name="Freeform 15" id="15"/>
          <p:cNvSpPr/>
          <p:nvPr/>
        </p:nvSpPr>
        <p:spPr>
          <a:xfrm flipH="false" flipV="false" rot="0">
            <a:off x="5358868" y="-62768"/>
            <a:ext cx="1611108" cy="1611108"/>
          </a:xfrm>
          <a:custGeom>
            <a:avLst/>
            <a:gdLst/>
            <a:ahLst/>
            <a:cxnLst/>
            <a:rect r="r" b="b" t="t" l="l"/>
            <a:pathLst>
              <a:path h="1611108" w="1611108">
                <a:moveTo>
                  <a:pt x="0" y="0"/>
                </a:moveTo>
                <a:lnTo>
                  <a:pt x="1611108" y="0"/>
                </a:lnTo>
                <a:lnTo>
                  <a:pt x="1611108" y="1611109"/>
                </a:lnTo>
                <a:lnTo>
                  <a:pt x="0" y="1611109"/>
                </a:lnTo>
                <a:lnTo>
                  <a:pt x="0" y="0"/>
                </a:lnTo>
                <a:close/>
              </a:path>
            </a:pathLst>
          </a:custGeom>
          <a:blipFill>
            <a:blip r:embed="rId8"/>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EEEFF4"/>
        </a:solidFill>
      </p:bgPr>
    </p:bg>
    <p:spTree>
      <p:nvGrpSpPr>
        <p:cNvPr id="1" name=""/>
        <p:cNvGrpSpPr/>
        <p:nvPr/>
      </p:nvGrpSpPr>
      <p:grpSpPr>
        <a:xfrm>
          <a:off x="0" y="0"/>
          <a:ext cx="0" cy="0"/>
          <a:chOff x="0" y="0"/>
          <a:chExt cx="0" cy="0"/>
        </a:xfrm>
      </p:grpSpPr>
      <p:sp>
        <p:nvSpPr>
          <p:cNvPr name="Freeform 2" id="2"/>
          <p:cNvSpPr/>
          <p:nvPr/>
        </p:nvSpPr>
        <p:spPr>
          <a:xfrm flipH="false" flipV="false" rot="0">
            <a:off x="0" y="37257"/>
            <a:ext cx="4149089" cy="2661592"/>
          </a:xfrm>
          <a:custGeom>
            <a:avLst/>
            <a:gdLst/>
            <a:ahLst/>
            <a:cxnLst/>
            <a:rect r="r" b="b" t="t" l="l"/>
            <a:pathLst>
              <a:path h="2661592" w="4149089">
                <a:moveTo>
                  <a:pt x="0" y="0"/>
                </a:moveTo>
                <a:lnTo>
                  <a:pt x="4149089" y="0"/>
                </a:lnTo>
                <a:lnTo>
                  <a:pt x="4149089" y="2661592"/>
                </a:lnTo>
                <a:lnTo>
                  <a:pt x="0" y="26615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4138911" y="7625408"/>
            <a:ext cx="4149089" cy="2661592"/>
          </a:xfrm>
          <a:custGeom>
            <a:avLst/>
            <a:gdLst/>
            <a:ahLst/>
            <a:cxnLst/>
            <a:rect r="r" b="b" t="t" l="l"/>
            <a:pathLst>
              <a:path h="2661592" w="4149089">
                <a:moveTo>
                  <a:pt x="4149089" y="2661592"/>
                </a:moveTo>
                <a:lnTo>
                  <a:pt x="0" y="2661592"/>
                </a:lnTo>
                <a:lnTo>
                  <a:pt x="0" y="0"/>
                </a:lnTo>
                <a:lnTo>
                  <a:pt x="4149089" y="0"/>
                </a:lnTo>
                <a:lnTo>
                  <a:pt x="4149089" y="2661592"/>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true" rot="0">
            <a:off x="193321" y="7560804"/>
            <a:ext cx="4149089" cy="2661592"/>
          </a:xfrm>
          <a:custGeom>
            <a:avLst/>
            <a:gdLst/>
            <a:ahLst/>
            <a:cxnLst/>
            <a:rect r="r" b="b" t="t" l="l"/>
            <a:pathLst>
              <a:path h="2661592" w="4149089">
                <a:moveTo>
                  <a:pt x="0" y="2661592"/>
                </a:moveTo>
                <a:lnTo>
                  <a:pt x="4149090" y="2661592"/>
                </a:lnTo>
                <a:lnTo>
                  <a:pt x="4149090" y="0"/>
                </a:lnTo>
                <a:lnTo>
                  <a:pt x="0" y="0"/>
                </a:lnTo>
                <a:lnTo>
                  <a:pt x="0" y="2661592"/>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true" flipV="false" rot="0">
            <a:off x="13916387" y="37257"/>
            <a:ext cx="4149089" cy="2661592"/>
          </a:xfrm>
          <a:custGeom>
            <a:avLst/>
            <a:gdLst/>
            <a:ahLst/>
            <a:cxnLst/>
            <a:rect r="r" b="b" t="t" l="l"/>
            <a:pathLst>
              <a:path h="2661592" w="4149089">
                <a:moveTo>
                  <a:pt x="4149089" y="0"/>
                </a:moveTo>
                <a:lnTo>
                  <a:pt x="0" y="0"/>
                </a:lnTo>
                <a:lnTo>
                  <a:pt x="0" y="2661592"/>
                </a:lnTo>
                <a:lnTo>
                  <a:pt x="4149089" y="2661592"/>
                </a:lnTo>
                <a:lnTo>
                  <a:pt x="4149089"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3691695" y="4096430"/>
            <a:ext cx="4720395" cy="2094139"/>
          </a:xfrm>
          <a:custGeom>
            <a:avLst/>
            <a:gdLst/>
            <a:ahLst/>
            <a:cxnLst/>
            <a:rect r="r" b="b" t="t" l="l"/>
            <a:pathLst>
              <a:path h="2094139" w="4720395">
                <a:moveTo>
                  <a:pt x="0" y="0"/>
                </a:moveTo>
                <a:lnTo>
                  <a:pt x="4720395" y="0"/>
                </a:lnTo>
                <a:lnTo>
                  <a:pt x="4720395" y="2094140"/>
                </a:lnTo>
                <a:lnTo>
                  <a:pt x="0" y="209414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17259300" y="4096430"/>
            <a:ext cx="4720395" cy="2094139"/>
          </a:xfrm>
          <a:custGeom>
            <a:avLst/>
            <a:gdLst/>
            <a:ahLst/>
            <a:cxnLst/>
            <a:rect r="r" b="b" t="t" l="l"/>
            <a:pathLst>
              <a:path h="2094139" w="4720395">
                <a:moveTo>
                  <a:pt x="0" y="0"/>
                </a:moveTo>
                <a:lnTo>
                  <a:pt x="4720395" y="0"/>
                </a:lnTo>
                <a:lnTo>
                  <a:pt x="4720395" y="2094140"/>
                </a:lnTo>
                <a:lnTo>
                  <a:pt x="0" y="209414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528638" y="626025"/>
            <a:ext cx="1268369" cy="1484056"/>
          </a:xfrm>
          <a:custGeom>
            <a:avLst/>
            <a:gdLst/>
            <a:ahLst/>
            <a:cxnLst/>
            <a:rect r="r" b="b" t="t" l="l"/>
            <a:pathLst>
              <a:path h="1484056" w="1268369">
                <a:moveTo>
                  <a:pt x="0" y="0"/>
                </a:moveTo>
                <a:lnTo>
                  <a:pt x="1268368" y="0"/>
                </a:lnTo>
                <a:lnTo>
                  <a:pt x="1268368" y="1484056"/>
                </a:lnTo>
                <a:lnTo>
                  <a:pt x="0" y="148405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true" rot="0">
            <a:off x="806176" y="8060158"/>
            <a:ext cx="1268369" cy="1484056"/>
          </a:xfrm>
          <a:custGeom>
            <a:avLst/>
            <a:gdLst/>
            <a:ahLst/>
            <a:cxnLst/>
            <a:rect r="r" b="b" t="t" l="l"/>
            <a:pathLst>
              <a:path h="1484056" w="1268369">
                <a:moveTo>
                  <a:pt x="0" y="1484056"/>
                </a:moveTo>
                <a:lnTo>
                  <a:pt x="1268369" y="1484056"/>
                </a:lnTo>
                <a:lnTo>
                  <a:pt x="1268369" y="0"/>
                </a:lnTo>
                <a:lnTo>
                  <a:pt x="0" y="0"/>
                </a:lnTo>
                <a:lnTo>
                  <a:pt x="0" y="1484056"/>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0" id="10"/>
          <p:cNvSpPr/>
          <p:nvPr/>
        </p:nvSpPr>
        <p:spPr>
          <a:xfrm flipH="true" flipV="false" rot="0">
            <a:off x="16213455" y="742786"/>
            <a:ext cx="1268369" cy="1484056"/>
          </a:xfrm>
          <a:custGeom>
            <a:avLst/>
            <a:gdLst/>
            <a:ahLst/>
            <a:cxnLst/>
            <a:rect r="r" b="b" t="t" l="l"/>
            <a:pathLst>
              <a:path h="1484056" w="1268369">
                <a:moveTo>
                  <a:pt x="1268369" y="0"/>
                </a:moveTo>
                <a:lnTo>
                  <a:pt x="0" y="0"/>
                </a:lnTo>
                <a:lnTo>
                  <a:pt x="0" y="1484056"/>
                </a:lnTo>
                <a:lnTo>
                  <a:pt x="1268369" y="1484056"/>
                </a:lnTo>
                <a:lnTo>
                  <a:pt x="1268369"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1" id="11"/>
          <p:cNvSpPr/>
          <p:nvPr/>
        </p:nvSpPr>
        <p:spPr>
          <a:xfrm flipH="true" flipV="true" rot="0">
            <a:off x="16490994" y="8149572"/>
            <a:ext cx="1268369" cy="1484056"/>
          </a:xfrm>
          <a:custGeom>
            <a:avLst/>
            <a:gdLst/>
            <a:ahLst/>
            <a:cxnLst/>
            <a:rect r="r" b="b" t="t" l="l"/>
            <a:pathLst>
              <a:path h="1484056" w="1268369">
                <a:moveTo>
                  <a:pt x="1268368" y="1484056"/>
                </a:moveTo>
                <a:lnTo>
                  <a:pt x="0" y="1484056"/>
                </a:lnTo>
                <a:lnTo>
                  <a:pt x="0" y="0"/>
                </a:lnTo>
                <a:lnTo>
                  <a:pt x="1268368" y="0"/>
                </a:lnTo>
                <a:lnTo>
                  <a:pt x="1268368" y="1484056"/>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2" id="12"/>
          <p:cNvSpPr txBox="true"/>
          <p:nvPr/>
        </p:nvSpPr>
        <p:spPr>
          <a:xfrm rot="0">
            <a:off x="1797006" y="2001051"/>
            <a:ext cx="14693987" cy="6955153"/>
          </a:xfrm>
          <a:prstGeom prst="rect">
            <a:avLst/>
          </a:prstGeom>
        </p:spPr>
        <p:txBody>
          <a:bodyPr anchor="t" rtlCol="false" tIns="0" lIns="0" bIns="0" rIns="0">
            <a:spAutoFit/>
          </a:bodyPr>
          <a:lstStyle/>
          <a:p>
            <a:pPr algn="just">
              <a:lnSpc>
                <a:spcPts val="4620"/>
              </a:lnSpc>
            </a:pPr>
          </a:p>
          <a:p>
            <a:pPr algn="just" marL="712483" indent="-356241" lvl="1">
              <a:lnSpc>
                <a:spcPts val="4620"/>
              </a:lnSpc>
              <a:buAutoNum type="arabicPeriod" startAt="1"/>
            </a:pPr>
            <a:r>
              <a:rPr lang="en-US" sz="3300">
                <a:solidFill>
                  <a:srgbClr val="545454"/>
                </a:solidFill>
                <a:latin typeface="Gowun Batang"/>
                <a:ea typeface="Gowun Batang"/>
                <a:cs typeface="Gowun Batang"/>
                <a:sym typeface="Gowun Batang"/>
              </a:rPr>
              <a:t>Different companies and internships ask for different formats of resumes and proof, so students repeatedly retype the same details in new formats, increasing errors and inconsistencies in their applications.​</a:t>
            </a:r>
          </a:p>
          <a:p>
            <a:pPr algn="just" marL="712483" indent="-356241" lvl="1">
              <a:lnSpc>
                <a:spcPts val="4620"/>
              </a:lnSpc>
              <a:buAutoNum type="arabicPeriod" startAt="1"/>
            </a:pPr>
            <a:r>
              <a:rPr lang="en-US" sz="3300">
                <a:solidFill>
                  <a:srgbClr val="545454"/>
                </a:solidFill>
                <a:latin typeface="Gowun Batang"/>
                <a:ea typeface="Gowun Batang"/>
                <a:cs typeface="Gowun Batang"/>
                <a:sym typeface="Gowun Batang"/>
              </a:rPr>
              <a:t>There is no link between events and academics: leave approvals, event participation and certificate submission all happen in separate channels (paper, email, WhatsApp), so tracking which student attended which event for how many days becomes almost impossible.​</a:t>
            </a:r>
          </a:p>
          <a:p>
            <a:pPr algn="just" marL="712483" indent="-356241" lvl="1">
              <a:lnSpc>
                <a:spcPts val="4620"/>
              </a:lnSpc>
              <a:buAutoNum type="arabicPeriod" startAt="1"/>
            </a:pPr>
            <a:r>
              <a:rPr lang="en-US" sz="3300">
                <a:solidFill>
                  <a:srgbClr val="545454"/>
                </a:solidFill>
                <a:latin typeface="Gowun Batang"/>
                <a:ea typeface="Gowun Batang"/>
                <a:cs typeface="Gowun Batang"/>
                <a:sym typeface="Gowun Batang"/>
              </a:rPr>
              <a:t>Departments cannot analyze trends like which domains students are strong in, which platforms they use most, or how achievements grow year by year, because data is not collected in a structured, centralized system.</a:t>
            </a:r>
          </a:p>
          <a:p>
            <a:pPr algn="just">
              <a:lnSpc>
                <a:spcPts val="4620"/>
              </a:lnSpc>
            </a:pPr>
          </a:p>
        </p:txBody>
      </p:sp>
      <p:sp>
        <p:nvSpPr>
          <p:cNvPr name="TextBox 13" id="13"/>
          <p:cNvSpPr txBox="true"/>
          <p:nvPr/>
        </p:nvSpPr>
        <p:spPr>
          <a:xfrm rot="0">
            <a:off x="7801965" y="206792"/>
            <a:ext cx="5282434" cy="821908"/>
          </a:xfrm>
          <a:prstGeom prst="rect">
            <a:avLst/>
          </a:prstGeom>
        </p:spPr>
        <p:txBody>
          <a:bodyPr anchor="t" rtlCol="false" tIns="0" lIns="0" bIns="0" rIns="0">
            <a:spAutoFit/>
          </a:bodyPr>
          <a:lstStyle/>
          <a:p>
            <a:pPr algn="ctr">
              <a:lnSpc>
                <a:spcPts val="3262"/>
              </a:lnSpc>
            </a:pPr>
            <a:r>
              <a:rPr lang="en-US" sz="2861" i="true">
                <a:solidFill>
                  <a:srgbClr val="545454"/>
                </a:solidFill>
                <a:latin typeface="Nunito Sans Italics"/>
                <a:ea typeface="Nunito Sans Italics"/>
                <a:cs typeface="Nunito Sans Italics"/>
                <a:sym typeface="Nunito Sans Italics"/>
              </a:rPr>
              <a:t>Dayananda Sagar Academy of Technology and management</a:t>
            </a:r>
          </a:p>
        </p:txBody>
      </p:sp>
      <p:sp>
        <p:nvSpPr>
          <p:cNvPr name="Freeform 14" id="14"/>
          <p:cNvSpPr/>
          <p:nvPr/>
        </p:nvSpPr>
        <p:spPr>
          <a:xfrm flipH="false" flipV="false" rot="0">
            <a:off x="5358868" y="-62768"/>
            <a:ext cx="1611108" cy="1611108"/>
          </a:xfrm>
          <a:custGeom>
            <a:avLst/>
            <a:gdLst/>
            <a:ahLst/>
            <a:cxnLst/>
            <a:rect r="r" b="b" t="t" l="l"/>
            <a:pathLst>
              <a:path h="1611108" w="1611108">
                <a:moveTo>
                  <a:pt x="0" y="0"/>
                </a:moveTo>
                <a:lnTo>
                  <a:pt x="1611108" y="0"/>
                </a:lnTo>
                <a:lnTo>
                  <a:pt x="1611108" y="1611109"/>
                </a:lnTo>
                <a:lnTo>
                  <a:pt x="0" y="1611109"/>
                </a:lnTo>
                <a:lnTo>
                  <a:pt x="0" y="0"/>
                </a:lnTo>
                <a:close/>
              </a:path>
            </a:pathLst>
          </a:custGeom>
          <a:blipFill>
            <a:blip r:embed="rId8"/>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EEEFF4"/>
        </a:solidFill>
      </p:bgPr>
    </p:bg>
    <p:spTree>
      <p:nvGrpSpPr>
        <p:cNvPr id="1" name=""/>
        <p:cNvGrpSpPr/>
        <p:nvPr/>
      </p:nvGrpSpPr>
      <p:grpSpPr>
        <a:xfrm>
          <a:off x="0" y="0"/>
          <a:ext cx="0" cy="0"/>
          <a:chOff x="0" y="0"/>
          <a:chExt cx="0" cy="0"/>
        </a:xfrm>
      </p:grpSpPr>
      <p:sp>
        <p:nvSpPr>
          <p:cNvPr name="Freeform 2" id="2"/>
          <p:cNvSpPr/>
          <p:nvPr/>
        </p:nvSpPr>
        <p:spPr>
          <a:xfrm flipH="false" flipV="false" rot="0">
            <a:off x="839" y="19453"/>
            <a:ext cx="4149089" cy="2661592"/>
          </a:xfrm>
          <a:custGeom>
            <a:avLst/>
            <a:gdLst/>
            <a:ahLst/>
            <a:cxnLst/>
            <a:rect r="r" b="b" t="t" l="l"/>
            <a:pathLst>
              <a:path h="2661592" w="4149089">
                <a:moveTo>
                  <a:pt x="0" y="0"/>
                </a:moveTo>
                <a:lnTo>
                  <a:pt x="4149089" y="0"/>
                </a:lnTo>
                <a:lnTo>
                  <a:pt x="4149089" y="2661592"/>
                </a:lnTo>
                <a:lnTo>
                  <a:pt x="0" y="26615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4137424" y="7510072"/>
            <a:ext cx="4149089" cy="2661592"/>
          </a:xfrm>
          <a:custGeom>
            <a:avLst/>
            <a:gdLst/>
            <a:ahLst/>
            <a:cxnLst/>
            <a:rect r="r" b="b" t="t" l="l"/>
            <a:pathLst>
              <a:path h="2661592" w="4149089">
                <a:moveTo>
                  <a:pt x="4149089" y="2661591"/>
                </a:moveTo>
                <a:lnTo>
                  <a:pt x="0" y="2661591"/>
                </a:lnTo>
                <a:lnTo>
                  <a:pt x="0" y="0"/>
                </a:lnTo>
                <a:lnTo>
                  <a:pt x="4149089" y="0"/>
                </a:lnTo>
                <a:lnTo>
                  <a:pt x="4149089" y="2661591"/>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true" rot="0">
            <a:off x="839" y="7510072"/>
            <a:ext cx="4149089" cy="2661592"/>
          </a:xfrm>
          <a:custGeom>
            <a:avLst/>
            <a:gdLst/>
            <a:ahLst/>
            <a:cxnLst/>
            <a:rect r="r" b="b" t="t" l="l"/>
            <a:pathLst>
              <a:path h="2661592" w="4149089">
                <a:moveTo>
                  <a:pt x="0" y="2661591"/>
                </a:moveTo>
                <a:lnTo>
                  <a:pt x="4149089" y="2661591"/>
                </a:lnTo>
                <a:lnTo>
                  <a:pt x="4149089" y="0"/>
                </a:lnTo>
                <a:lnTo>
                  <a:pt x="0" y="0"/>
                </a:lnTo>
                <a:lnTo>
                  <a:pt x="0" y="2661591"/>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true" flipV="false" rot="0">
            <a:off x="14138911" y="0"/>
            <a:ext cx="4149089" cy="2661592"/>
          </a:xfrm>
          <a:custGeom>
            <a:avLst/>
            <a:gdLst/>
            <a:ahLst/>
            <a:cxnLst/>
            <a:rect r="r" b="b" t="t" l="l"/>
            <a:pathLst>
              <a:path h="2661592" w="4149089">
                <a:moveTo>
                  <a:pt x="4149089" y="0"/>
                </a:moveTo>
                <a:lnTo>
                  <a:pt x="0" y="0"/>
                </a:lnTo>
                <a:lnTo>
                  <a:pt x="0" y="2661592"/>
                </a:lnTo>
                <a:lnTo>
                  <a:pt x="4149089" y="2661592"/>
                </a:lnTo>
                <a:lnTo>
                  <a:pt x="4149089"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3691695" y="4096430"/>
            <a:ext cx="4720395" cy="2094139"/>
          </a:xfrm>
          <a:custGeom>
            <a:avLst/>
            <a:gdLst/>
            <a:ahLst/>
            <a:cxnLst/>
            <a:rect r="r" b="b" t="t" l="l"/>
            <a:pathLst>
              <a:path h="2094139" w="4720395">
                <a:moveTo>
                  <a:pt x="0" y="0"/>
                </a:moveTo>
                <a:lnTo>
                  <a:pt x="4720395" y="0"/>
                </a:lnTo>
                <a:lnTo>
                  <a:pt x="4720395" y="2094140"/>
                </a:lnTo>
                <a:lnTo>
                  <a:pt x="0" y="209414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17259300" y="4096430"/>
            <a:ext cx="4720395" cy="2094139"/>
          </a:xfrm>
          <a:custGeom>
            <a:avLst/>
            <a:gdLst/>
            <a:ahLst/>
            <a:cxnLst/>
            <a:rect r="r" b="b" t="t" l="l"/>
            <a:pathLst>
              <a:path h="2094139" w="4720395">
                <a:moveTo>
                  <a:pt x="0" y="0"/>
                </a:moveTo>
                <a:lnTo>
                  <a:pt x="4720395" y="0"/>
                </a:lnTo>
                <a:lnTo>
                  <a:pt x="4720395" y="2094140"/>
                </a:lnTo>
                <a:lnTo>
                  <a:pt x="0" y="209414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585329" y="707151"/>
            <a:ext cx="1268369" cy="1484056"/>
          </a:xfrm>
          <a:custGeom>
            <a:avLst/>
            <a:gdLst/>
            <a:ahLst/>
            <a:cxnLst/>
            <a:rect r="r" b="b" t="t" l="l"/>
            <a:pathLst>
              <a:path h="1484056" w="1268369">
                <a:moveTo>
                  <a:pt x="0" y="0"/>
                </a:moveTo>
                <a:lnTo>
                  <a:pt x="1268369" y="0"/>
                </a:lnTo>
                <a:lnTo>
                  <a:pt x="1268369" y="1484056"/>
                </a:lnTo>
                <a:lnTo>
                  <a:pt x="0" y="148405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true" rot="0">
            <a:off x="585329" y="8178696"/>
            <a:ext cx="1268369" cy="1484056"/>
          </a:xfrm>
          <a:custGeom>
            <a:avLst/>
            <a:gdLst/>
            <a:ahLst/>
            <a:cxnLst/>
            <a:rect r="r" b="b" t="t" l="l"/>
            <a:pathLst>
              <a:path h="1484056" w="1268369">
                <a:moveTo>
                  <a:pt x="0" y="1484056"/>
                </a:moveTo>
                <a:lnTo>
                  <a:pt x="1268369" y="1484056"/>
                </a:lnTo>
                <a:lnTo>
                  <a:pt x="1268369" y="0"/>
                </a:lnTo>
                <a:lnTo>
                  <a:pt x="0" y="0"/>
                </a:lnTo>
                <a:lnTo>
                  <a:pt x="0" y="1484056"/>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0" id="10"/>
          <p:cNvSpPr/>
          <p:nvPr/>
        </p:nvSpPr>
        <p:spPr>
          <a:xfrm flipH="true" flipV="false" rot="0">
            <a:off x="16490994" y="608221"/>
            <a:ext cx="1268369" cy="1484056"/>
          </a:xfrm>
          <a:custGeom>
            <a:avLst/>
            <a:gdLst/>
            <a:ahLst/>
            <a:cxnLst/>
            <a:rect r="r" b="b" t="t" l="l"/>
            <a:pathLst>
              <a:path h="1484056" w="1268369">
                <a:moveTo>
                  <a:pt x="1268368" y="0"/>
                </a:moveTo>
                <a:lnTo>
                  <a:pt x="0" y="0"/>
                </a:lnTo>
                <a:lnTo>
                  <a:pt x="0" y="1484056"/>
                </a:lnTo>
                <a:lnTo>
                  <a:pt x="1268368" y="1484056"/>
                </a:lnTo>
                <a:lnTo>
                  <a:pt x="1268368"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1" id="11"/>
          <p:cNvSpPr/>
          <p:nvPr/>
        </p:nvSpPr>
        <p:spPr>
          <a:xfrm flipH="true" flipV="true" rot="0">
            <a:off x="16490994" y="8121695"/>
            <a:ext cx="1268369" cy="1484056"/>
          </a:xfrm>
          <a:custGeom>
            <a:avLst/>
            <a:gdLst/>
            <a:ahLst/>
            <a:cxnLst/>
            <a:rect r="r" b="b" t="t" l="l"/>
            <a:pathLst>
              <a:path h="1484056" w="1268369">
                <a:moveTo>
                  <a:pt x="1268368" y="1484056"/>
                </a:moveTo>
                <a:lnTo>
                  <a:pt x="0" y="1484056"/>
                </a:lnTo>
                <a:lnTo>
                  <a:pt x="0" y="0"/>
                </a:lnTo>
                <a:lnTo>
                  <a:pt x="1268368" y="0"/>
                </a:lnTo>
                <a:lnTo>
                  <a:pt x="1268368" y="1484056"/>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2" id="12"/>
          <p:cNvSpPr txBox="true"/>
          <p:nvPr/>
        </p:nvSpPr>
        <p:spPr>
          <a:xfrm rot="0">
            <a:off x="1028700" y="2169682"/>
            <a:ext cx="16230600" cy="1056266"/>
          </a:xfrm>
          <a:prstGeom prst="rect">
            <a:avLst/>
          </a:prstGeom>
        </p:spPr>
        <p:txBody>
          <a:bodyPr anchor="t" rtlCol="false" tIns="0" lIns="0" bIns="0" rIns="0">
            <a:spAutoFit/>
          </a:bodyPr>
          <a:lstStyle/>
          <a:p>
            <a:pPr algn="ctr">
              <a:lnSpc>
                <a:spcPts val="8665"/>
              </a:lnSpc>
            </a:pPr>
            <a:r>
              <a:rPr lang="en-US" b="true" sz="6189">
                <a:solidFill>
                  <a:srgbClr val="545454"/>
                </a:solidFill>
                <a:latin typeface="Noto Serif Devanagari Bold"/>
                <a:ea typeface="Noto Serif Devanagari Bold"/>
                <a:cs typeface="Noto Serif Devanagari Bold"/>
                <a:sym typeface="Noto Serif Devanagari Bold"/>
              </a:rPr>
              <a:t>BACKGROUND / LITERATURE REVIEW</a:t>
            </a:r>
          </a:p>
        </p:txBody>
      </p:sp>
      <p:grpSp>
        <p:nvGrpSpPr>
          <p:cNvPr name="Group 13" id="13"/>
          <p:cNvGrpSpPr/>
          <p:nvPr/>
        </p:nvGrpSpPr>
        <p:grpSpPr>
          <a:xfrm rot="0">
            <a:off x="1662884" y="3552509"/>
            <a:ext cx="15198092" cy="2638061"/>
            <a:chOff x="0" y="0"/>
            <a:chExt cx="4002790" cy="694798"/>
          </a:xfrm>
        </p:grpSpPr>
        <p:sp>
          <p:nvSpPr>
            <p:cNvPr name="Freeform 14" id="14"/>
            <p:cNvSpPr/>
            <p:nvPr/>
          </p:nvSpPr>
          <p:spPr>
            <a:xfrm flipH="false" flipV="false" rot="0">
              <a:off x="0" y="0"/>
              <a:ext cx="4002790" cy="694798"/>
            </a:xfrm>
            <a:custGeom>
              <a:avLst/>
              <a:gdLst/>
              <a:ahLst/>
              <a:cxnLst/>
              <a:rect r="r" b="b" t="t" l="l"/>
              <a:pathLst>
                <a:path h="694798" w="4002790">
                  <a:moveTo>
                    <a:pt x="5603" y="0"/>
                  </a:moveTo>
                  <a:lnTo>
                    <a:pt x="3997186" y="0"/>
                  </a:lnTo>
                  <a:cubicBezTo>
                    <a:pt x="4000281" y="0"/>
                    <a:pt x="4002790" y="2509"/>
                    <a:pt x="4002790" y="5603"/>
                  </a:cubicBezTo>
                  <a:lnTo>
                    <a:pt x="4002790" y="689195"/>
                  </a:lnTo>
                  <a:cubicBezTo>
                    <a:pt x="4002790" y="692289"/>
                    <a:pt x="4000281" y="694798"/>
                    <a:pt x="3997186" y="694798"/>
                  </a:cubicBezTo>
                  <a:lnTo>
                    <a:pt x="5603" y="694798"/>
                  </a:lnTo>
                  <a:cubicBezTo>
                    <a:pt x="2509" y="694798"/>
                    <a:pt x="0" y="692289"/>
                    <a:pt x="0" y="689195"/>
                  </a:cubicBezTo>
                  <a:lnTo>
                    <a:pt x="0" y="5603"/>
                  </a:lnTo>
                  <a:cubicBezTo>
                    <a:pt x="0" y="2509"/>
                    <a:pt x="2509" y="0"/>
                    <a:pt x="5603" y="0"/>
                  </a:cubicBezTo>
                  <a:close/>
                </a:path>
              </a:pathLst>
            </a:custGeom>
            <a:solidFill>
              <a:srgbClr val="E9E9E9"/>
            </a:solidFill>
          </p:spPr>
        </p:sp>
        <p:sp>
          <p:nvSpPr>
            <p:cNvPr name="TextBox 15" id="15"/>
            <p:cNvSpPr txBox="true"/>
            <p:nvPr/>
          </p:nvSpPr>
          <p:spPr>
            <a:xfrm>
              <a:off x="0" y="-38100"/>
              <a:ext cx="4002790" cy="732898"/>
            </a:xfrm>
            <a:prstGeom prst="rect">
              <a:avLst/>
            </a:prstGeom>
          </p:spPr>
          <p:txBody>
            <a:bodyPr anchor="ctr" rtlCol="false" tIns="50800" lIns="50800" bIns="50800" rIns="50800"/>
            <a:lstStyle/>
            <a:p>
              <a:pPr algn="ctr">
                <a:lnSpc>
                  <a:spcPts val="2659"/>
                </a:lnSpc>
                <a:spcBef>
                  <a:spcPct val="0"/>
                </a:spcBef>
              </a:pPr>
            </a:p>
          </p:txBody>
        </p:sp>
      </p:grpSp>
      <p:sp>
        <p:nvSpPr>
          <p:cNvPr name="Freeform 16" id="16"/>
          <p:cNvSpPr/>
          <p:nvPr/>
        </p:nvSpPr>
        <p:spPr>
          <a:xfrm flipH="false" flipV="false" rot="0">
            <a:off x="1472071" y="3848135"/>
            <a:ext cx="381627" cy="496591"/>
          </a:xfrm>
          <a:custGeom>
            <a:avLst/>
            <a:gdLst/>
            <a:ahLst/>
            <a:cxnLst/>
            <a:rect r="r" b="b" t="t" l="l"/>
            <a:pathLst>
              <a:path h="496591" w="381627">
                <a:moveTo>
                  <a:pt x="0" y="0"/>
                </a:moveTo>
                <a:lnTo>
                  <a:pt x="381627" y="0"/>
                </a:lnTo>
                <a:lnTo>
                  <a:pt x="381627" y="496591"/>
                </a:lnTo>
                <a:lnTo>
                  <a:pt x="0" y="49659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17" id="17"/>
          <p:cNvSpPr txBox="true"/>
          <p:nvPr/>
        </p:nvSpPr>
        <p:spPr>
          <a:xfrm rot="0">
            <a:off x="1994152" y="3781460"/>
            <a:ext cx="14962231" cy="2306953"/>
          </a:xfrm>
          <a:prstGeom prst="rect">
            <a:avLst/>
          </a:prstGeom>
        </p:spPr>
        <p:txBody>
          <a:bodyPr anchor="t" rtlCol="false" tIns="0" lIns="0" bIns="0" rIns="0">
            <a:spAutoFit/>
          </a:bodyPr>
          <a:lstStyle/>
          <a:p>
            <a:pPr algn="just">
              <a:lnSpc>
                <a:spcPts val="4620"/>
              </a:lnSpc>
            </a:pPr>
            <a:r>
              <a:rPr lang="en-US" sz="3300">
                <a:solidFill>
                  <a:srgbClr val="545454"/>
                </a:solidFill>
                <a:latin typeface="Gowun Batang"/>
                <a:ea typeface="Gowun Batang"/>
                <a:cs typeface="Gowun Batang"/>
                <a:sym typeface="Gowun Batang"/>
              </a:rPr>
              <a:t>Many students now complete MOOCs, coding contests and internships on platforms like Coursera, NPTEL, HackerRank etc., which issue digital certificates but do not provide a unified way to manage them across platforms.​</a:t>
            </a:r>
          </a:p>
          <a:p>
            <a:pPr algn="just">
              <a:lnSpc>
                <a:spcPts val="4620"/>
              </a:lnSpc>
            </a:pPr>
          </a:p>
        </p:txBody>
      </p:sp>
      <p:grpSp>
        <p:nvGrpSpPr>
          <p:cNvPr name="Group 18" id="18"/>
          <p:cNvGrpSpPr/>
          <p:nvPr/>
        </p:nvGrpSpPr>
        <p:grpSpPr>
          <a:xfrm rot="0">
            <a:off x="1662884" y="6371881"/>
            <a:ext cx="15198092" cy="2548842"/>
            <a:chOff x="0" y="0"/>
            <a:chExt cx="4002790" cy="671300"/>
          </a:xfrm>
        </p:grpSpPr>
        <p:sp>
          <p:nvSpPr>
            <p:cNvPr name="Freeform 19" id="19"/>
            <p:cNvSpPr/>
            <p:nvPr/>
          </p:nvSpPr>
          <p:spPr>
            <a:xfrm flipH="false" flipV="false" rot="0">
              <a:off x="0" y="0"/>
              <a:ext cx="4002790" cy="671300"/>
            </a:xfrm>
            <a:custGeom>
              <a:avLst/>
              <a:gdLst/>
              <a:ahLst/>
              <a:cxnLst/>
              <a:rect r="r" b="b" t="t" l="l"/>
              <a:pathLst>
                <a:path h="671300" w="4002790">
                  <a:moveTo>
                    <a:pt x="5603" y="0"/>
                  </a:moveTo>
                  <a:lnTo>
                    <a:pt x="3997186" y="0"/>
                  </a:lnTo>
                  <a:cubicBezTo>
                    <a:pt x="4000281" y="0"/>
                    <a:pt x="4002790" y="2509"/>
                    <a:pt x="4002790" y="5603"/>
                  </a:cubicBezTo>
                  <a:lnTo>
                    <a:pt x="4002790" y="665697"/>
                  </a:lnTo>
                  <a:cubicBezTo>
                    <a:pt x="4002790" y="668791"/>
                    <a:pt x="4000281" y="671300"/>
                    <a:pt x="3997186" y="671300"/>
                  </a:cubicBezTo>
                  <a:lnTo>
                    <a:pt x="5603" y="671300"/>
                  </a:lnTo>
                  <a:cubicBezTo>
                    <a:pt x="2509" y="671300"/>
                    <a:pt x="0" y="668791"/>
                    <a:pt x="0" y="665697"/>
                  </a:cubicBezTo>
                  <a:lnTo>
                    <a:pt x="0" y="5603"/>
                  </a:lnTo>
                  <a:cubicBezTo>
                    <a:pt x="0" y="2509"/>
                    <a:pt x="2509" y="0"/>
                    <a:pt x="5603" y="0"/>
                  </a:cubicBezTo>
                  <a:close/>
                </a:path>
              </a:pathLst>
            </a:custGeom>
            <a:solidFill>
              <a:srgbClr val="E9E9E9"/>
            </a:solidFill>
          </p:spPr>
        </p:sp>
        <p:sp>
          <p:nvSpPr>
            <p:cNvPr name="TextBox 20" id="20"/>
            <p:cNvSpPr txBox="true"/>
            <p:nvPr/>
          </p:nvSpPr>
          <p:spPr>
            <a:xfrm>
              <a:off x="0" y="-38100"/>
              <a:ext cx="4002790" cy="709400"/>
            </a:xfrm>
            <a:prstGeom prst="rect">
              <a:avLst/>
            </a:prstGeom>
          </p:spPr>
          <p:txBody>
            <a:bodyPr anchor="ctr" rtlCol="false" tIns="50800" lIns="50800" bIns="50800" rIns="50800"/>
            <a:lstStyle/>
            <a:p>
              <a:pPr algn="ctr">
                <a:lnSpc>
                  <a:spcPts val="2659"/>
                </a:lnSpc>
                <a:spcBef>
                  <a:spcPct val="0"/>
                </a:spcBef>
              </a:pPr>
            </a:p>
          </p:txBody>
        </p:sp>
      </p:grpSp>
      <p:sp>
        <p:nvSpPr>
          <p:cNvPr name="Freeform 21" id="21"/>
          <p:cNvSpPr/>
          <p:nvPr/>
        </p:nvSpPr>
        <p:spPr>
          <a:xfrm flipH="false" flipV="false" rot="0">
            <a:off x="1472071" y="6633966"/>
            <a:ext cx="381627" cy="496591"/>
          </a:xfrm>
          <a:custGeom>
            <a:avLst/>
            <a:gdLst/>
            <a:ahLst/>
            <a:cxnLst/>
            <a:rect r="r" b="b" t="t" l="l"/>
            <a:pathLst>
              <a:path h="496591" w="381627">
                <a:moveTo>
                  <a:pt x="0" y="0"/>
                </a:moveTo>
                <a:lnTo>
                  <a:pt x="381627" y="0"/>
                </a:lnTo>
                <a:lnTo>
                  <a:pt x="381627" y="496591"/>
                </a:lnTo>
                <a:lnTo>
                  <a:pt x="0" y="49659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22" id="22"/>
          <p:cNvSpPr txBox="true"/>
          <p:nvPr/>
        </p:nvSpPr>
        <p:spPr>
          <a:xfrm rot="0">
            <a:off x="2089559" y="6567291"/>
            <a:ext cx="14771418" cy="2887978"/>
          </a:xfrm>
          <a:prstGeom prst="rect">
            <a:avLst/>
          </a:prstGeom>
        </p:spPr>
        <p:txBody>
          <a:bodyPr anchor="t" rtlCol="false" tIns="0" lIns="0" bIns="0" rIns="0">
            <a:spAutoFit/>
          </a:bodyPr>
          <a:lstStyle/>
          <a:p>
            <a:pPr algn="just">
              <a:lnSpc>
                <a:spcPts val="4620"/>
              </a:lnSpc>
            </a:pPr>
            <a:r>
              <a:rPr lang="en-US" sz="3300">
                <a:solidFill>
                  <a:srgbClr val="545454"/>
                </a:solidFill>
                <a:latin typeface="Gowun Batang"/>
                <a:ea typeface="Gowun Batang"/>
                <a:cs typeface="Gowun Batang"/>
                <a:sym typeface="Gowun Batang"/>
              </a:rPr>
              <a:t>Common tools such as email, Google Drive, spreadsheets or ERP/LMS systems either focus only on storage or only on internal academics, and do not combine certificate organisation, event tracking and resume generation in a single student‑centric portal.​</a:t>
            </a:r>
          </a:p>
          <a:p>
            <a:pPr algn="just">
              <a:lnSpc>
                <a:spcPts val="4620"/>
              </a:lnSpc>
            </a:pPr>
          </a:p>
        </p:txBody>
      </p:sp>
      <p:sp>
        <p:nvSpPr>
          <p:cNvPr name="TextBox 23" id="23"/>
          <p:cNvSpPr txBox="true"/>
          <p:nvPr/>
        </p:nvSpPr>
        <p:spPr>
          <a:xfrm rot="0">
            <a:off x="7492350" y="305722"/>
            <a:ext cx="6120160" cy="821908"/>
          </a:xfrm>
          <a:prstGeom prst="rect">
            <a:avLst/>
          </a:prstGeom>
        </p:spPr>
        <p:txBody>
          <a:bodyPr anchor="t" rtlCol="false" tIns="0" lIns="0" bIns="0" rIns="0">
            <a:spAutoFit/>
          </a:bodyPr>
          <a:lstStyle/>
          <a:p>
            <a:pPr algn="ctr">
              <a:lnSpc>
                <a:spcPts val="3262"/>
              </a:lnSpc>
            </a:pPr>
            <a:r>
              <a:rPr lang="en-US" sz="2861" i="true">
                <a:solidFill>
                  <a:srgbClr val="545454"/>
                </a:solidFill>
                <a:latin typeface="Nunito Sans Italics"/>
                <a:ea typeface="Nunito Sans Italics"/>
                <a:cs typeface="Nunito Sans Italics"/>
                <a:sym typeface="Nunito Sans Italics"/>
              </a:rPr>
              <a:t>Dayananda Sagar Academy of Technology and management</a:t>
            </a:r>
          </a:p>
        </p:txBody>
      </p:sp>
      <p:sp>
        <p:nvSpPr>
          <p:cNvPr name="Freeform 24" id="24"/>
          <p:cNvSpPr/>
          <p:nvPr/>
        </p:nvSpPr>
        <p:spPr>
          <a:xfrm flipH="false" flipV="false" rot="0">
            <a:off x="5014467" y="19453"/>
            <a:ext cx="1611108" cy="1611108"/>
          </a:xfrm>
          <a:custGeom>
            <a:avLst/>
            <a:gdLst/>
            <a:ahLst/>
            <a:cxnLst/>
            <a:rect r="r" b="b" t="t" l="l"/>
            <a:pathLst>
              <a:path h="1611108" w="1611108">
                <a:moveTo>
                  <a:pt x="0" y="0"/>
                </a:moveTo>
                <a:lnTo>
                  <a:pt x="1611108" y="0"/>
                </a:lnTo>
                <a:lnTo>
                  <a:pt x="1611108" y="1611108"/>
                </a:lnTo>
                <a:lnTo>
                  <a:pt x="0" y="1611108"/>
                </a:lnTo>
                <a:lnTo>
                  <a:pt x="0" y="0"/>
                </a:lnTo>
                <a:close/>
              </a:path>
            </a:pathLst>
          </a:custGeom>
          <a:blipFill>
            <a:blip r:embed="rId10"/>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EEEFF4"/>
        </a:solidFill>
      </p:bgPr>
    </p:bg>
    <p:spTree>
      <p:nvGrpSpPr>
        <p:cNvPr id="1" name=""/>
        <p:cNvGrpSpPr/>
        <p:nvPr/>
      </p:nvGrpSpPr>
      <p:grpSpPr>
        <a:xfrm>
          <a:off x="0" y="0"/>
          <a:ext cx="0" cy="0"/>
          <a:chOff x="0" y="0"/>
          <a:chExt cx="0" cy="0"/>
        </a:xfrm>
      </p:grpSpPr>
      <p:sp>
        <p:nvSpPr>
          <p:cNvPr name="Freeform 2" id="2"/>
          <p:cNvSpPr/>
          <p:nvPr/>
        </p:nvSpPr>
        <p:spPr>
          <a:xfrm flipH="false" flipV="false" rot="0">
            <a:off x="839" y="19453"/>
            <a:ext cx="4149089" cy="2661592"/>
          </a:xfrm>
          <a:custGeom>
            <a:avLst/>
            <a:gdLst/>
            <a:ahLst/>
            <a:cxnLst/>
            <a:rect r="r" b="b" t="t" l="l"/>
            <a:pathLst>
              <a:path h="2661592" w="4149089">
                <a:moveTo>
                  <a:pt x="0" y="0"/>
                </a:moveTo>
                <a:lnTo>
                  <a:pt x="4149089" y="0"/>
                </a:lnTo>
                <a:lnTo>
                  <a:pt x="4149089" y="2661592"/>
                </a:lnTo>
                <a:lnTo>
                  <a:pt x="0" y="26615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4137424" y="7510072"/>
            <a:ext cx="4149089" cy="2661592"/>
          </a:xfrm>
          <a:custGeom>
            <a:avLst/>
            <a:gdLst/>
            <a:ahLst/>
            <a:cxnLst/>
            <a:rect r="r" b="b" t="t" l="l"/>
            <a:pathLst>
              <a:path h="2661592" w="4149089">
                <a:moveTo>
                  <a:pt x="4149089" y="2661591"/>
                </a:moveTo>
                <a:lnTo>
                  <a:pt x="0" y="2661591"/>
                </a:lnTo>
                <a:lnTo>
                  <a:pt x="0" y="0"/>
                </a:lnTo>
                <a:lnTo>
                  <a:pt x="4149089" y="0"/>
                </a:lnTo>
                <a:lnTo>
                  <a:pt x="4149089" y="2661591"/>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true" rot="0">
            <a:off x="839" y="7510072"/>
            <a:ext cx="4149089" cy="2661592"/>
          </a:xfrm>
          <a:custGeom>
            <a:avLst/>
            <a:gdLst/>
            <a:ahLst/>
            <a:cxnLst/>
            <a:rect r="r" b="b" t="t" l="l"/>
            <a:pathLst>
              <a:path h="2661592" w="4149089">
                <a:moveTo>
                  <a:pt x="0" y="2661591"/>
                </a:moveTo>
                <a:lnTo>
                  <a:pt x="4149089" y="2661591"/>
                </a:lnTo>
                <a:lnTo>
                  <a:pt x="4149089" y="0"/>
                </a:lnTo>
                <a:lnTo>
                  <a:pt x="0" y="0"/>
                </a:lnTo>
                <a:lnTo>
                  <a:pt x="0" y="2661591"/>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true" flipV="false" rot="0">
            <a:off x="14138911" y="0"/>
            <a:ext cx="4149089" cy="2661592"/>
          </a:xfrm>
          <a:custGeom>
            <a:avLst/>
            <a:gdLst/>
            <a:ahLst/>
            <a:cxnLst/>
            <a:rect r="r" b="b" t="t" l="l"/>
            <a:pathLst>
              <a:path h="2661592" w="4149089">
                <a:moveTo>
                  <a:pt x="4149089" y="0"/>
                </a:moveTo>
                <a:lnTo>
                  <a:pt x="0" y="0"/>
                </a:lnTo>
                <a:lnTo>
                  <a:pt x="0" y="2661592"/>
                </a:lnTo>
                <a:lnTo>
                  <a:pt x="4149089" y="2661592"/>
                </a:lnTo>
                <a:lnTo>
                  <a:pt x="4149089"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3691695" y="4096430"/>
            <a:ext cx="4720395" cy="2094139"/>
          </a:xfrm>
          <a:custGeom>
            <a:avLst/>
            <a:gdLst/>
            <a:ahLst/>
            <a:cxnLst/>
            <a:rect r="r" b="b" t="t" l="l"/>
            <a:pathLst>
              <a:path h="2094139" w="4720395">
                <a:moveTo>
                  <a:pt x="0" y="0"/>
                </a:moveTo>
                <a:lnTo>
                  <a:pt x="4720395" y="0"/>
                </a:lnTo>
                <a:lnTo>
                  <a:pt x="4720395" y="2094140"/>
                </a:lnTo>
                <a:lnTo>
                  <a:pt x="0" y="209414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17259300" y="4096430"/>
            <a:ext cx="4720395" cy="2094139"/>
          </a:xfrm>
          <a:custGeom>
            <a:avLst/>
            <a:gdLst/>
            <a:ahLst/>
            <a:cxnLst/>
            <a:rect r="r" b="b" t="t" l="l"/>
            <a:pathLst>
              <a:path h="2094139" w="4720395">
                <a:moveTo>
                  <a:pt x="0" y="0"/>
                </a:moveTo>
                <a:lnTo>
                  <a:pt x="4720395" y="0"/>
                </a:lnTo>
                <a:lnTo>
                  <a:pt x="4720395" y="2094140"/>
                </a:lnTo>
                <a:lnTo>
                  <a:pt x="0" y="209414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585329" y="707151"/>
            <a:ext cx="1268369" cy="1484056"/>
          </a:xfrm>
          <a:custGeom>
            <a:avLst/>
            <a:gdLst/>
            <a:ahLst/>
            <a:cxnLst/>
            <a:rect r="r" b="b" t="t" l="l"/>
            <a:pathLst>
              <a:path h="1484056" w="1268369">
                <a:moveTo>
                  <a:pt x="0" y="0"/>
                </a:moveTo>
                <a:lnTo>
                  <a:pt x="1268369" y="0"/>
                </a:lnTo>
                <a:lnTo>
                  <a:pt x="1268369" y="1484056"/>
                </a:lnTo>
                <a:lnTo>
                  <a:pt x="0" y="148405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true" rot="0">
            <a:off x="585329" y="8178696"/>
            <a:ext cx="1268369" cy="1484056"/>
          </a:xfrm>
          <a:custGeom>
            <a:avLst/>
            <a:gdLst/>
            <a:ahLst/>
            <a:cxnLst/>
            <a:rect r="r" b="b" t="t" l="l"/>
            <a:pathLst>
              <a:path h="1484056" w="1268369">
                <a:moveTo>
                  <a:pt x="0" y="1484056"/>
                </a:moveTo>
                <a:lnTo>
                  <a:pt x="1268369" y="1484056"/>
                </a:lnTo>
                <a:lnTo>
                  <a:pt x="1268369" y="0"/>
                </a:lnTo>
                <a:lnTo>
                  <a:pt x="0" y="0"/>
                </a:lnTo>
                <a:lnTo>
                  <a:pt x="0" y="1484056"/>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0" id="10"/>
          <p:cNvSpPr/>
          <p:nvPr/>
        </p:nvSpPr>
        <p:spPr>
          <a:xfrm flipH="true" flipV="false" rot="0">
            <a:off x="16490994" y="608221"/>
            <a:ext cx="1268369" cy="1484056"/>
          </a:xfrm>
          <a:custGeom>
            <a:avLst/>
            <a:gdLst/>
            <a:ahLst/>
            <a:cxnLst/>
            <a:rect r="r" b="b" t="t" l="l"/>
            <a:pathLst>
              <a:path h="1484056" w="1268369">
                <a:moveTo>
                  <a:pt x="1268368" y="0"/>
                </a:moveTo>
                <a:lnTo>
                  <a:pt x="0" y="0"/>
                </a:lnTo>
                <a:lnTo>
                  <a:pt x="0" y="1484056"/>
                </a:lnTo>
                <a:lnTo>
                  <a:pt x="1268368" y="1484056"/>
                </a:lnTo>
                <a:lnTo>
                  <a:pt x="1268368"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1" id="11"/>
          <p:cNvSpPr/>
          <p:nvPr/>
        </p:nvSpPr>
        <p:spPr>
          <a:xfrm flipH="true" flipV="true" rot="0">
            <a:off x="16490994" y="8121695"/>
            <a:ext cx="1268369" cy="1484056"/>
          </a:xfrm>
          <a:custGeom>
            <a:avLst/>
            <a:gdLst/>
            <a:ahLst/>
            <a:cxnLst/>
            <a:rect r="r" b="b" t="t" l="l"/>
            <a:pathLst>
              <a:path h="1484056" w="1268369">
                <a:moveTo>
                  <a:pt x="1268368" y="1484056"/>
                </a:moveTo>
                <a:lnTo>
                  <a:pt x="0" y="1484056"/>
                </a:lnTo>
                <a:lnTo>
                  <a:pt x="0" y="0"/>
                </a:lnTo>
                <a:lnTo>
                  <a:pt x="1268368" y="0"/>
                </a:lnTo>
                <a:lnTo>
                  <a:pt x="1268368" y="1484056"/>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2" id="12"/>
          <p:cNvSpPr txBox="true"/>
          <p:nvPr/>
        </p:nvSpPr>
        <p:spPr>
          <a:xfrm rot="0">
            <a:off x="1028700" y="2169682"/>
            <a:ext cx="16230600" cy="1056266"/>
          </a:xfrm>
          <a:prstGeom prst="rect">
            <a:avLst/>
          </a:prstGeom>
        </p:spPr>
        <p:txBody>
          <a:bodyPr anchor="t" rtlCol="false" tIns="0" lIns="0" bIns="0" rIns="0">
            <a:spAutoFit/>
          </a:bodyPr>
          <a:lstStyle/>
          <a:p>
            <a:pPr algn="ctr">
              <a:lnSpc>
                <a:spcPts val="8665"/>
              </a:lnSpc>
            </a:pPr>
            <a:r>
              <a:rPr lang="en-US" b="true" sz="6189">
                <a:solidFill>
                  <a:srgbClr val="545454"/>
                </a:solidFill>
                <a:latin typeface="Noto Serif Devanagari Bold"/>
                <a:ea typeface="Noto Serif Devanagari Bold"/>
                <a:cs typeface="Noto Serif Devanagari Bold"/>
                <a:sym typeface="Noto Serif Devanagari Bold"/>
              </a:rPr>
              <a:t>BACKGROUND / LITERATURE REVIEW</a:t>
            </a:r>
          </a:p>
        </p:txBody>
      </p:sp>
      <p:grpSp>
        <p:nvGrpSpPr>
          <p:cNvPr name="Group 13" id="13"/>
          <p:cNvGrpSpPr/>
          <p:nvPr/>
        </p:nvGrpSpPr>
        <p:grpSpPr>
          <a:xfrm rot="0">
            <a:off x="1662884" y="3416448"/>
            <a:ext cx="15198092" cy="2309188"/>
            <a:chOff x="0" y="0"/>
            <a:chExt cx="4002790" cy="608181"/>
          </a:xfrm>
        </p:grpSpPr>
        <p:sp>
          <p:nvSpPr>
            <p:cNvPr name="Freeform 14" id="14"/>
            <p:cNvSpPr/>
            <p:nvPr/>
          </p:nvSpPr>
          <p:spPr>
            <a:xfrm flipH="false" flipV="false" rot="0">
              <a:off x="0" y="0"/>
              <a:ext cx="4002790" cy="608181"/>
            </a:xfrm>
            <a:custGeom>
              <a:avLst/>
              <a:gdLst/>
              <a:ahLst/>
              <a:cxnLst/>
              <a:rect r="r" b="b" t="t" l="l"/>
              <a:pathLst>
                <a:path h="608181" w="4002790">
                  <a:moveTo>
                    <a:pt x="5603" y="0"/>
                  </a:moveTo>
                  <a:lnTo>
                    <a:pt x="3997186" y="0"/>
                  </a:lnTo>
                  <a:cubicBezTo>
                    <a:pt x="4000281" y="0"/>
                    <a:pt x="4002790" y="2509"/>
                    <a:pt x="4002790" y="5603"/>
                  </a:cubicBezTo>
                  <a:lnTo>
                    <a:pt x="4002790" y="602578"/>
                  </a:lnTo>
                  <a:cubicBezTo>
                    <a:pt x="4002790" y="605673"/>
                    <a:pt x="4000281" y="608181"/>
                    <a:pt x="3997186" y="608181"/>
                  </a:cubicBezTo>
                  <a:lnTo>
                    <a:pt x="5603" y="608181"/>
                  </a:lnTo>
                  <a:cubicBezTo>
                    <a:pt x="2509" y="608181"/>
                    <a:pt x="0" y="605673"/>
                    <a:pt x="0" y="602578"/>
                  </a:cubicBezTo>
                  <a:lnTo>
                    <a:pt x="0" y="5603"/>
                  </a:lnTo>
                  <a:cubicBezTo>
                    <a:pt x="0" y="2509"/>
                    <a:pt x="2509" y="0"/>
                    <a:pt x="5603" y="0"/>
                  </a:cubicBezTo>
                  <a:close/>
                </a:path>
              </a:pathLst>
            </a:custGeom>
            <a:solidFill>
              <a:srgbClr val="E9E9E9"/>
            </a:solidFill>
          </p:spPr>
        </p:sp>
        <p:sp>
          <p:nvSpPr>
            <p:cNvPr name="TextBox 15" id="15"/>
            <p:cNvSpPr txBox="true"/>
            <p:nvPr/>
          </p:nvSpPr>
          <p:spPr>
            <a:xfrm>
              <a:off x="0" y="-38100"/>
              <a:ext cx="4002790" cy="646281"/>
            </a:xfrm>
            <a:prstGeom prst="rect">
              <a:avLst/>
            </a:prstGeom>
          </p:spPr>
          <p:txBody>
            <a:bodyPr anchor="ctr" rtlCol="false" tIns="50800" lIns="50800" bIns="50800" rIns="50800"/>
            <a:lstStyle/>
            <a:p>
              <a:pPr algn="ctr">
                <a:lnSpc>
                  <a:spcPts val="2659"/>
                </a:lnSpc>
                <a:spcBef>
                  <a:spcPct val="0"/>
                </a:spcBef>
              </a:pPr>
            </a:p>
          </p:txBody>
        </p:sp>
      </p:grpSp>
      <p:sp>
        <p:nvSpPr>
          <p:cNvPr name="Freeform 16" id="16"/>
          <p:cNvSpPr/>
          <p:nvPr/>
        </p:nvSpPr>
        <p:spPr>
          <a:xfrm flipH="false" flipV="false" rot="0">
            <a:off x="1399188" y="3599840"/>
            <a:ext cx="381627" cy="496591"/>
          </a:xfrm>
          <a:custGeom>
            <a:avLst/>
            <a:gdLst/>
            <a:ahLst/>
            <a:cxnLst/>
            <a:rect r="r" b="b" t="t" l="l"/>
            <a:pathLst>
              <a:path h="496591" w="381627">
                <a:moveTo>
                  <a:pt x="0" y="0"/>
                </a:moveTo>
                <a:lnTo>
                  <a:pt x="381627" y="0"/>
                </a:lnTo>
                <a:lnTo>
                  <a:pt x="381627" y="496590"/>
                </a:lnTo>
                <a:lnTo>
                  <a:pt x="0" y="49659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17" id="17"/>
          <p:cNvSpPr txBox="true"/>
          <p:nvPr/>
        </p:nvSpPr>
        <p:spPr>
          <a:xfrm rot="0">
            <a:off x="1780815" y="2830650"/>
            <a:ext cx="14962231" cy="3469003"/>
          </a:xfrm>
          <a:prstGeom prst="rect">
            <a:avLst/>
          </a:prstGeom>
        </p:spPr>
        <p:txBody>
          <a:bodyPr anchor="t" rtlCol="false" tIns="0" lIns="0" bIns="0" rIns="0">
            <a:spAutoFit/>
          </a:bodyPr>
          <a:lstStyle/>
          <a:p>
            <a:pPr algn="just">
              <a:lnSpc>
                <a:spcPts val="4620"/>
              </a:lnSpc>
            </a:pPr>
          </a:p>
          <a:p>
            <a:pPr algn="just">
              <a:lnSpc>
                <a:spcPts val="4620"/>
              </a:lnSpc>
            </a:pPr>
            <a:r>
              <a:rPr lang="en-US" sz="3300">
                <a:solidFill>
                  <a:srgbClr val="545454"/>
                </a:solidFill>
                <a:latin typeface="Gowun Batang"/>
                <a:ea typeface="Gowun Batang"/>
                <a:cs typeface="Gowun Batang"/>
                <a:sym typeface="Gowun Batang"/>
              </a:rPr>
              <a:t>Research and existing academic portals mainly address user management and basic achievement logging, but they lack features like integrated leave workflows, external competition discovery, and automatic reuse of certificate data for resumes.​</a:t>
            </a:r>
          </a:p>
          <a:p>
            <a:pPr algn="just">
              <a:lnSpc>
                <a:spcPts val="4620"/>
              </a:lnSpc>
            </a:pPr>
          </a:p>
        </p:txBody>
      </p:sp>
      <p:grpSp>
        <p:nvGrpSpPr>
          <p:cNvPr name="Group 18" id="18"/>
          <p:cNvGrpSpPr/>
          <p:nvPr/>
        </p:nvGrpSpPr>
        <p:grpSpPr>
          <a:xfrm rot="0">
            <a:off x="1662884" y="5983398"/>
            <a:ext cx="15198092" cy="3053348"/>
            <a:chOff x="0" y="0"/>
            <a:chExt cx="4002790" cy="804174"/>
          </a:xfrm>
        </p:grpSpPr>
        <p:sp>
          <p:nvSpPr>
            <p:cNvPr name="Freeform 19" id="19"/>
            <p:cNvSpPr/>
            <p:nvPr/>
          </p:nvSpPr>
          <p:spPr>
            <a:xfrm flipH="false" flipV="false" rot="0">
              <a:off x="0" y="0"/>
              <a:ext cx="4002790" cy="804174"/>
            </a:xfrm>
            <a:custGeom>
              <a:avLst/>
              <a:gdLst/>
              <a:ahLst/>
              <a:cxnLst/>
              <a:rect r="r" b="b" t="t" l="l"/>
              <a:pathLst>
                <a:path h="804174" w="4002790">
                  <a:moveTo>
                    <a:pt x="5603" y="0"/>
                  </a:moveTo>
                  <a:lnTo>
                    <a:pt x="3997186" y="0"/>
                  </a:lnTo>
                  <a:cubicBezTo>
                    <a:pt x="4000281" y="0"/>
                    <a:pt x="4002790" y="2509"/>
                    <a:pt x="4002790" y="5603"/>
                  </a:cubicBezTo>
                  <a:lnTo>
                    <a:pt x="4002790" y="798571"/>
                  </a:lnTo>
                  <a:cubicBezTo>
                    <a:pt x="4002790" y="801665"/>
                    <a:pt x="4000281" y="804174"/>
                    <a:pt x="3997186" y="804174"/>
                  </a:cubicBezTo>
                  <a:lnTo>
                    <a:pt x="5603" y="804174"/>
                  </a:lnTo>
                  <a:cubicBezTo>
                    <a:pt x="2509" y="804174"/>
                    <a:pt x="0" y="801665"/>
                    <a:pt x="0" y="798571"/>
                  </a:cubicBezTo>
                  <a:lnTo>
                    <a:pt x="0" y="5603"/>
                  </a:lnTo>
                  <a:cubicBezTo>
                    <a:pt x="0" y="2509"/>
                    <a:pt x="2509" y="0"/>
                    <a:pt x="5603" y="0"/>
                  </a:cubicBezTo>
                  <a:close/>
                </a:path>
              </a:pathLst>
            </a:custGeom>
            <a:solidFill>
              <a:srgbClr val="E9E9E9"/>
            </a:solidFill>
          </p:spPr>
        </p:sp>
        <p:sp>
          <p:nvSpPr>
            <p:cNvPr name="TextBox 20" id="20"/>
            <p:cNvSpPr txBox="true"/>
            <p:nvPr/>
          </p:nvSpPr>
          <p:spPr>
            <a:xfrm>
              <a:off x="0" y="-38100"/>
              <a:ext cx="4002790" cy="842274"/>
            </a:xfrm>
            <a:prstGeom prst="rect">
              <a:avLst/>
            </a:prstGeom>
          </p:spPr>
          <p:txBody>
            <a:bodyPr anchor="ctr" rtlCol="false" tIns="50800" lIns="50800" bIns="50800" rIns="50800"/>
            <a:lstStyle/>
            <a:p>
              <a:pPr algn="ctr">
                <a:lnSpc>
                  <a:spcPts val="2659"/>
                </a:lnSpc>
                <a:spcBef>
                  <a:spcPct val="0"/>
                </a:spcBef>
              </a:pPr>
            </a:p>
          </p:txBody>
        </p:sp>
      </p:grpSp>
      <p:sp>
        <p:nvSpPr>
          <p:cNvPr name="Freeform 21" id="21"/>
          <p:cNvSpPr/>
          <p:nvPr/>
        </p:nvSpPr>
        <p:spPr>
          <a:xfrm flipH="false" flipV="false" rot="0">
            <a:off x="1472071" y="6299654"/>
            <a:ext cx="381627" cy="496591"/>
          </a:xfrm>
          <a:custGeom>
            <a:avLst/>
            <a:gdLst/>
            <a:ahLst/>
            <a:cxnLst/>
            <a:rect r="r" b="b" t="t" l="l"/>
            <a:pathLst>
              <a:path h="496591" w="381627">
                <a:moveTo>
                  <a:pt x="0" y="0"/>
                </a:moveTo>
                <a:lnTo>
                  <a:pt x="381627" y="0"/>
                </a:lnTo>
                <a:lnTo>
                  <a:pt x="381627" y="496591"/>
                </a:lnTo>
                <a:lnTo>
                  <a:pt x="0" y="49659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22" id="22"/>
          <p:cNvSpPr txBox="true"/>
          <p:nvPr/>
        </p:nvSpPr>
        <p:spPr>
          <a:xfrm rot="0">
            <a:off x="1876222" y="6323258"/>
            <a:ext cx="14771418" cy="2306953"/>
          </a:xfrm>
          <a:prstGeom prst="rect">
            <a:avLst/>
          </a:prstGeom>
        </p:spPr>
        <p:txBody>
          <a:bodyPr anchor="t" rtlCol="false" tIns="0" lIns="0" bIns="0" rIns="0">
            <a:spAutoFit/>
          </a:bodyPr>
          <a:lstStyle/>
          <a:p>
            <a:pPr algn="just">
              <a:lnSpc>
                <a:spcPts val="4620"/>
              </a:lnSpc>
            </a:pPr>
            <a:r>
              <a:rPr lang="en-US" sz="3300">
                <a:solidFill>
                  <a:srgbClr val="545454"/>
                </a:solidFill>
                <a:latin typeface="Gowun Batang"/>
                <a:ea typeface="Gowun Batang"/>
                <a:cs typeface="Gowun Batang"/>
                <a:sym typeface="Gowun Batang"/>
              </a:rPr>
              <a:t>These gaps show the need for a lightweight, web-based system that centralizes student achievements, supports multiple roles (student, teacher, admin), and follows modern web design principles like modular architecture, role-based access and responsive UI.</a:t>
            </a:r>
          </a:p>
        </p:txBody>
      </p:sp>
      <p:sp>
        <p:nvSpPr>
          <p:cNvPr name="TextBox 23" id="23"/>
          <p:cNvSpPr txBox="true"/>
          <p:nvPr/>
        </p:nvSpPr>
        <p:spPr>
          <a:xfrm rot="0">
            <a:off x="7492350" y="305722"/>
            <a:ext cx="6120160" cy="821908"/>
          </a:xfrm>
          <a:prstGeom prst="rect">
            <a:avLst/>
          </a:prstGeom>
        </p:spPr>
        <p:txBody>
          <a:bodyPr anchor="t" rtlCol="false" tIns="0" lIns="0" bIns="0" rIns="0">
            <a:spAutoFit/>
          </a:bodyPr>
          <a:lstStyle/>
          <a:p>
            <a:pPr algn="ctr">
              <a:lnSpc>
                <a:spcPts val="3262"/>
              </a:lnSpc>
            </a:pPr>
            <a:r>
              <a:rPr lang="en-US" sz="2861" i="true">
                <a:solidFill>
                  <a:srgbClr val="545454"/>
                </a:solidFill>
                <a:latin typeface="Nunito Sans Italics"/>
                <a:ea typeface="Nunito Sans Italics"/>
                <a:cs typeface="Nunito Sans Italics"/>
                <a:sym typeface="Nunito Sans Italics"/>
              </a:rPr>
              <a:t>Dayananda Sagar Academy of Technology and management</a:t>
            </a:r>
          </a:p>
        </p:txBody>
      </p:sp>
      <p:sp>
        <p:nvSpPr>
          <p:cNvPr name="Freeform 24" id="24"/>
          <p:cNvSpPr/>
          <p:nvPr/>
        </p:nvSpPr>
        <p:spPr>
          <a:xfrm flipH="false" flipV="false" rot="0">
            <a:off x="5014467" y="19453"/>
            <a:ext cx="1611108" cy="1611108"/>
          </a:xfrm>
          <a:custGeom>
            <a:avLst/>
            <a:gdLst/>
            <a:ahLst/>
            <a:cxnLst/>
            <a:rect r="r" b="b" t="t" l="l"/>
            <a:pathLst>
              <a:path h="1611108" w="1611108">
                <a:moveTo>
                  <a:pt x="0" y="0"/>
                </a:moveTo>
                <a:lnTo>
                  <a:pt x="1611108" y="0"/>
                </a:lnTo>
                <a:lnTo>
                  <a:pt x="1611108" y="1611108"/>
                </a:lnTo>
                <a:lnTo>
                  <a:pt x="0" y="1611108"/>
                </a:lnTo>
                <a:lnTo>
                  <a:pt x="0" y="0"/>
                </a:lnTo>
                <a:close/>
              </a:path>
            </a:pathLst>
          </a:custGeom>
          <a:blipFill>
            <a:blip r:embed="rId10"/>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EEEFF4"/>
        </a:solidFill>
      </p:bgPr>
    </p:bg>
    <p:spTree>
      <p:nvGrpSpPr>
        <p:cNvPr id="1" name=""/>
        <p:cNvGrpSpPr/>
        <p:nvPr/>
      </p:nvGrpSpPr>
      <p:grpSpPr>
        <a:xfrm>
          <a:off x="0" y="0"/>
          <a:ext cx="0" cy="0"/>
          <a:chOff x="0" y="0"/>
          <a:chExt cx="0" cy="0"/>
        </a:xfrm>
      </p:grpSpPr>
      <p:sp>
        <p:nvSpPr>
          <p:cNvPr name="Freeform 2" id="2"/>
          <p:cNvSpPr/>
          <p:nvPr/>
        </p:nvSpPr>
        <p:spPr>
          <a:xfrm flipH="false" flipV="false" rot="0">
            <a:off x="222524" y="64604"/>
            <a:ext cx="4149089" cy="2661592"/>
          </a:xfrm>
          <a:custGeom>
            <a:avLst/>
            <a:gdLst/>
            <a:ahLst/>
            <a:cxnLst/>
            <a:rect r="r" b="b" t="t" l="l"/>
            <a:pathLst>
              <a:path h="2661592" w="4149089">
                <a:moveTo>
                  <a:pt x="0" y="0"/>
                </a:moveTo>
                <a:lnTo>
                  <a:pt x="4149089" y="0"/>
                </a:lnTo>
                <a:lnTo>
                  <a:pt x="4149089" y="2661592"/>
                </a:lnTo>
                <a:lnTo>
                  <a:pt x="0" y="26615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4138911" y="7392058"/>
            <a:ext cx="4149089" cy="2661592"/>
          </a:xfrm>
          <a:custGeom>
            <a:avLst/>
            <a:gdLst/>
            <a:ahLst/>
            <a:cxnLst/>
            <a:rect r="r" b="b" t="t" l="l"/>
            <a:pathLst>
              <a:path h="2661592" w="4149089">
                <a:moveTo>
                  <a:pt x="4149089" y="2661592"/>
                </a:moveTo>
                <a:lnTo>
                  <a:pt x="0" y="2661592"/>
                </a:lnTo>
                <a:lnTo>
                  <a:pt x="0" y="0"/>
                </a:lnTo>
                <a:lnTo>
                  <a:pt x="4149089" y="0"/>
                </a:lnTo>
                <a:lnTo>
                  <a:pt x="4149089" y="2661592"/>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true" rot="0">
            <a:off x="1487" y="7392058"/>
            <a:ext cx="4149089" cy="2661592"/>
          </a:xfrm>
          <a:custGeom>
            <a:avLst/>
            <a:gdLst/>
            <a:ahLst/>
            <a:cxnLst/>
            <a:rect r="r" b="b" t="t" l="l"/>
            <a:pathLst>
              <a:path h="2661592" w="4149089">
                <a:moveTo>
                  <a:pt x="0" y="2661592"/>
                </a:moveTo>
                <a:lnTo>
                  <a:pt x="4149089" y="2661592"/>
                </a:lnTo>
                <a:lnTo>
                  <a:pt x="4149089" y="0"/>
                </a:lnTo>
                <a:lnTo>
                  <a:pt x="0" y="0"/>
                </a:lnTo>
                <a:lnTo>
                  <a:pt x="0" y="2661592"/>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true" flipV="false" rot="0">
            <a:off x="14138911" y="64604"/>
            <a:ext cx="4149089" cy="2661592"/>
          </a:xfrm>
          <a:custGeom>
            <a:avLst/>
            <a:gdLst/>
            <a:ahLst/>
            <a:cxnLst/>
            <a:rect r="r" b="b" t="t" l="l"/>
            <a:pathLst>
              <a:path h="2661592" w="4149089">
                <a:moveTo>
                  <a:pt x="4149089" y="0"/>
                </a:moveTo>
                <a:lnTo>
                  <a:pt x="0" y="0"/>
                </a:lnTo>
                <a:lnTo>
                  <a:pt x="0" y="2661592"/>
                </a:lnTo>
                <a:lnTo>
                  <a:pt x="4149089" y="2661592"/>
                </a:lnTo>
                <a:lnTo>
                  <a:pt x="4149089"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3691695" y="4096430"/>
            <a:ext cx="4720395" cy="2094139"/>
          </a:xfrm>
          <a:custGeom>
            <a:avLst/>
            <a:gdLst/>
            <a:ahLst/>
            <a:cxnLst/>
            <a:rect r="r" b="b" t="t" l="l"/>
            <a:pathLst>
              <a:path h="2094139" w="4720395">
                <a:moveTo>
                  <a:pt x="0" y="0"/>
                </a:moveTo>
                <a:lnTo>
                  <a:pt x="4720395" y="0"/>
                </a:lnTo>
                <a:lnTo>
                  <a:pt x="4720395" y="2094140"/>
                </a:lnTo>
                <a:lnTo>
                  <a:pt x="0" y="209414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17259300" y="4096430"/>
            <a:ext cx="4720395" cy="2094139"/>
          </a:xfrm>
          <a:custGeom>
            <a:avLst/>
            <a:gdLst/>
            <a:ahLst/>
            <a:cxnLst/>
            <a:rect r="r" b="b" t="t" l="l"/>
            <a:pathLst>
              <a:path h="2094139" w="4720395">
                <a:moveTo>
                  <a:pt x="0" y="0"/>
                </a:moveTo>
                <a:lnTo>
                  <a:pt x="4720395" y="0"/>
                </a:lnTo>
                <a:lnTo>
                  <a:pt x="4720395" y="2094140"/>
                </a:lnTo>
                <a:lnTo>
                  <a:pt x="0" y="209414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807663" y="707151"/>
            <a:ext cx="1268369" cy="1484056"/>
          </a:xfrm>
          <a:custGeom>
            <a:avLst/>
            <a:gdLst/>
            <a:ahLst/>
            <a:cxnLst/>
            <a:rect r="r" b="b" t="t" l="l"/>
            <a:pathLst>
              <a:path h="1484056" w="1268369">
                <a:moveTo>
                  <a:pt x="0" y="0"/>
                </a:moveTo>
                <a:lnTo>
                  <a:pt x="1268369" y="0"/>
                </a:lnTo>
                <a:lnTo>
                  <a:pt x="1268369" y="1484056"/>
                </a:lnTo>
                <a:lnTo>
                  <a:pt x="0" y="148405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true" rot="0">
            <a:off x="525621" y="7874565"/>
            <a:ext cx="1268369" cy="1484056"/>
          </a:xfrm>
          <a:custGeom>
            <a:avLst/>
            <a:gdLst/>
            <a:ahLst/>
            <a:cxnLst/>
            <a:rect r="r" b="b" t="t" l="l"/>
            <a:pathLst>
              <a:path h="1484056" w="1268369">
                <a:moveTo>
                  <a:pt x="0" y="1484056"/>
                </a:moveTo>
                <a:lnTo>
                  <a:pt x="1268369" y="1484056"/>
                </a:lnTo>
                <a:lnTo>
                  <a:pt x="1268369" y="0"/>
                </a:lnTo>
                <a:lnTo>
                  <a:pt x="0" y="0"/>
                </a:lnTo>
                <a:lnTo>
                  <a:pt x="0" y="1484056"/>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0" id="10"/>
          <p:cNvSpPr/>
          <p:nvPr/>
        </p:nvSpPr>
        <p:spPr>
          <a:xfrm flipH="true" flipV="false" rot="0">
            <a:off x="16490994" y="707151"/>
            <a:ext cx="1268369" cy="1484056"/>
          </a:xfrm>
          <a:custGeom>
            <a:avLst/>
            <a:gdLst/>
            <a:ahLst/>
            <a:cxnLst/>
            <a:rect r="r" b="b" t="t" l="l"/>
            <a:pathLst>
              <a:path h="1484056" w="1268369">
                <a:moveTo>
                  <a:pt x="1268368" y="0"/>
                </a:moveTo>
                <a:lnTo>
                  <a:pt x="0" y="0"/>
                </a:lnTo>
                <a:lnTo>
                  <a:pt x="0" y="1484056"/>
                </a:lnTo>
                <a:lnTo>
                  <a:pt x="1268368" y="1484056"/>
                </a:lnTo>
                <a:lnTo>
                  <a:pt x="1268368"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1" id="11"/>
          <p:cNvSpPr/>
          <p:nvPr/>
        </p:nvSpPr>
        <p:spPr>
          <a:xfrm flipH="true" flipV="true" rot="0">
            <a:off x="16490994" y="7774244"/>
            <a:ext cx="1268369" cy="1484056"/>
          </a:xfrm>
          <a:custGeom>
            <a:avLst/>
            <a:gdLst/>
            <a:ahLst/>
            <a:cxnLst/>
            <a:rect r="r" b="b" t="t" l="l"/>
            <a:pathLst>
              <a:path h="1484056" w="1268369">
                <a:moveTo>
                  <a:pt x="1268368" y="1484056"/>
                </a:moveTo>
                <a:lnTo>
                  <a:pt x="0" y="1484056"/>
                </a:lnTo>
                <a:lnTo>
                  <a:pt x="0" y="0"/>
                </a:lnTo>
                <a:lnTo>
                  <a:pt x="1268368" y="0"/>
                </a:lnTo>
                <a:lnTo>
                  <a:pt x="1268368" y="1484056"/>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2" id="12"/>
          <p:cNvSpPr txBox="true"/>
          <p:nvPr/>
        </p:nvSpPr>
        <p:spPr>
          <a:xfrm rot="0">
            <a:off x="3651365" y="2016021"/>
            <a:ext cx="8890599" cy="1277474"/>
          </a:xfrm>
          <a:prstGeom prst="rect">
            <a:avLst/>
          </a:prstGeom>
        </p:spPr>
        <p:txBody>
          <a:bodyPr anchor="t" rtlCol="false" tIns="0" lIns="0" bIns="0" rIns="0">
            <a:spAutoFit/>
          </a:bodyPr>
          <a:lstStyle/>
          <a:p>
            <a:pPr algn="ctr">
              <a:lnSpc>
                <a:spcPts val="10438"/>
              </a:lnSpc>
            </a:pPr>
            <a:r>
              <a:rPr lang="en-US" b="true" sz="7455">
                <a:solidFill>
                  <a:srgbClr val="545454"/>
                </a:solidFill>
                <a:latin typeface="Noto Serif Devanagari Bold"/>
                <a:ea typeface="Noto Serif Devanagari Bold"/>
                <a:cs typeface="Noto Serif Devanagari Bold"/>
                <a:sym typeface="Noto Serif Devanagari Bold"/>
              </a:rPr>
              <a:t>METHODOLOGY </a:t>
            </a:r>
          </a:p>
        </p:txBody>
      </p:sp>
      <p:sp>
        <p:nvSpPr>
          <p:cNvPr name="TextBox 13" id="13"/>
          <p:cNvSpPr txBox="true"/>
          <p:nvPr/>
        </p:nvSpPr>
        <p:spPr>
          <a:xfrm rot="0">
            <a:off x="796082" y="2984493"/>
            <a:ext cx="7151062" cy="6374128"/>
          </a:xfrm>
          <a:prstGeom prst="rect">
            <a:avLst/>
          </a:prstGeom>
        </p:spPr>
        <p:txBody>
          <a:bodyPr anchor="t" rtlCol="false" tIns="0" lIns="0" bIns="0" rIns="0">
            <a:spAutoFit/>
          </a:bodyPr>
          <a:lstStyle/>
          <a:p>
            <a:pPr algn="just" marL="712483" indent="-356241" lvl="1">
              <a:lnSpc>
                <a:spcPts val="4620"/>
              </a:lnSpc>
              <a:buAutoNum type="arabicPeriod" startAt="1"/>
            </a:pPr>
            <a:r>
              <a:rPr lang="en-US" sz="3300">
                <a:solidFill>
                  <a:srgbClr val="545454"/>
                </a:solidFill>
                <a:latin typeface="Gowun Batang"/>
                <a:ea typeface="Gowun Batang"/>
                <a:cs typeface="Gowun Batang"/>
                <a:sym typeface="Gowun Batang"/>
              </a:rPr>
              <a:t>Requirement Analysis:</a:t>
            </a:r>
          </a:p>
          <a:p>
            <a:pPr algn="just" marL="1424966" indent="-474989" lvl="2">
              <a:lnSpc>
                <a:spcPts val="4620"/>
              </a:lnSpc>
              <a:buFont typeface="Arial"/>
              <a:buChar char="⚬"/>
            </a:pPr>
            <a:r>
              <a:rPr lang="en-US" sz="3300">
                <a:solidFill>
                  <a:srgbClr val="545454"/>
                </a:solidFill>
                <a:latin typeface="Gowun Batang"/>
                <a:ea typeface="Gowun Batang"/>
                <a:cs typeface="Gowun Batang"/>
                <a:sym typeface="Gowun Batang"/>
              </a:rPr>
              <a:t>Identified problems faced by students, teachers and admins in managing certificates, leave requests and resumes.</a:t>
            </a:r>
          </a:p>
          <a:p>
            <a:pPr algn="just" marL="1424966" indent="-474989" lvl="2">
              <a:lnSpc>
                <a:spcPts val="4620"/>
              </a:lnSpc>
              <a:buFont typeface="Arial"/>
              <a:buChar char="⚬"/>
            </a:pPr>
            <a:r>
              <a:rPr lang="en-US" sz="3300">
                <a:solidFill>
                  <a:srgbClr val="545454"/>
                </a:solidFill>
                <a:latin typeface="Gowun Batang"/>
                <a:ea typeface="Gowun Batang"/>
                <a:cs typeface="Gowun Batang"/>
                <a:sym typeface="Gowun Batang"/>
              </a:rPr>
              <a:t>Listed core features: certificate storage, course/contest discovery, leave workflow, resume builder, role-based access.​</a:t>
            </a:r>
          </a:p>
          <a:p>
            <a:pPr algn="just">
              <a:lnSpc>
                <a:spcPts val="4620"/>
              </a:lnSpc>
            </a:pPr>
          </a:p>
        </p:txBody>
      </p:sp>
      <p:sp>
        <p:nvSpPr>
          <p:cNvPr name="TextBox 14" id="14"/>
          <p:cNvSpPr txBox="true"/>
          <p:nvPr/>
        </p:nvSpPr>
        <p:spPr>
          <a:xfrm rot="0">
            <a:off x="7499791" y="627271"/>
            <a:ext cx="5669076" cy="821908"/>
          </a:xfrm>
          <a:prstGeom prst="rect">
            <a:avLst/>
          </a:prstGeom>
        </p:spPr>
        <p:txBody>
          <a:bodyPr anchor="t" rtlCol="false" tIns="0" lIns="0" bIns="0" rIns="0">
            <a:spAutoFit/>
          </a:bodyPr>
          <a:lstStyle/>
          <a:p>
            <a:pPr algn="ctr">
              <a:lnSpc>
                <a:spcPts val="3262"/>
              </a:lnSpc>
            </a:pPr>
            <a:r>
              <a:rPr lang="en-US" sz="2861" i="true">
                <a:solidFill>
                  <a:srgbClr val="545454"/>
                </a:solidFill>
                <a:latin typeface="Nunito Sans Italics"/>
                <a:ea typeface="Nunito Sans Italics"/>
                <a:cs typeface="Nunito Sans Italics"/>
                <a:sym typeface="Nunito Sans Italics"/>
              </a:rPr>
              <a:t>Dayananda Sagar Academy of Technology and management</a:t>
            </a:r>
          </a:p>
        </p:txBody>
      </p:sp>
      <p:sp>
        <p:nvSpPr>
          <p:cNvPr name="TextBox 15" id="15"/>
          <p:cNvSpPr txBox="true"/>
          <p:nvPr/>
        </p:nvSpPr>
        <p:spPr>
          <a:xfrm rot="0">
            <a:off x="8523420" y="2984493"/>
            <a:ext cx="8159604" cy="6270850"/>
          </a:xfrm>
          <a:prstGeom prst="rect">
            <a:avLst/>
          </a:prstGeom>
        </p:spPr>
        <p:txBody>
          <a:bodyPr anchor="t" rtlCol="false" tIns="0" lIns="0" bIns="0" rIns="0">
            <a:spAutoFit/>
          </a:bodyPr>
          <a:lstStyle/>
          <a:p>
            <a:pPr algn="just" marL="699764" indent="-349882" lvl="1">
              <a:lnSpc>
                <a:spcPts val="4537"/>
              </a:lnSpc>
              <a:buAutoNum type="arabicPeriod" startAt="1"/>
            </a:pPr>
            <a:r>
              <a:rPr lang="en-US" sz="3241">
                <a:solidFill>
                  <a:srgbClr val="545454"/>
                </a:solidFill>
                <a:latin typeface="Gowun Batang"/>
                <a:ea typeface="Gowun Batang"/>
                <a:cs typeface="Gowun Batang"/>
                <a:sym typeface="Gowun Batang"/>
              </a:rPr>
              <a:t>Frontend Implementation:</a:t>
            </a:r>
          </a:p>
          <a:p>
            <a:pPr algn="just" marL="699764" indent="-349882" lvl="1">
              <a:lnSpc>
                <a:spcPts val="4537"/>
              </a:lnSpc>
              <a:buFont typeface="Arial"/>
              <a:buChar char="•"/>
            </a:pPr>
            <a:r>
              <a:rPr lang="en-US" sz="3241">
                <a:solidFill>
                  <a:srgbClr val="545454"/>
                </a:solidFill>
                <a:latin typeface="Gowun Batang"/>
                <a:ea typeface="Gowun Batang"/>
                <a:cs typeface="Gowun Batang"/>
                <a:sym typeface="Gowun Batang"/>
              </a:rPr>
              <a:t>Developed all pages using HTML5 for structure, CSS3 (Flexbox, Grid) for responsive layouts, and JavaScript ES6+ for form validation, data handling and role-based logic.​</a:t>
            </a:r>
          </a:p>
          <a:p>
            <a:pPr algn="just" marL="699764" indent="-349882" lvl="1">
              <a:lnSpc>
                <a:spcPts val="4537"/>
              </a:lnSpc>
              <a:buFont typeface="Arial"/>
              <a:buChar char="•"/>
            </a:pPr>
            <a:r>
              <a:rPr lang="en-US" sz="3241">
                <a:solidFill>
                  <a:srgbClr val="545454"/>
                </a:solidFill>
                <a:latin typeface="Gowun Batang"/>
                <a:ea typeface="Gowun Batang"/>
                <a:cs typeface="Gowun Batang"/>
                <a:sym typeface="Gowun Batang"/>
              </a:rPr>
              <a:t>Organ</a:t>
            </a:r>
            <a:r>
              <a:rPr lang="en-US" sz="3241">
                <a:solidFill>
                  <a:srgbClr val="545454"/>
                </a:solidFill>
                <a:latin typeface="Gowun Batang"/>
                <a:ea typeface="Gowun Batang"/>
                <a:cs typeface="Gowun Batang"/>
                <a:sym typeface="Gowun Batang"/>
              </a:rPr>
              <a:t>ized code into multiple JS files (app.js, student-portal.js, teacher-portal.js, admin-portal.js) to keep features modular and maintainable.</a:t>
            </a:r>
          </a:p>
          <a:p>
            <a:pPr algn="just">
              <a:lnSpc>
                <a:spcPts val="4537"/>
              </a:lnSpc>
            </a:pPr>
          </a:p>
        </p:txBody>
      </p:sp>
      <p:sp>
        <p:nvSpPr>
          <p:cNvPr name="Freeform 16" id="16"/>
          <p:cNvSpPr/>
          <p:nvPr/>
        </p:nvSpPr>
        <p:spPr>
          <a:xfrm flipH="false" flipV="false" rot="0">
            <a:off x="5166867" y="171853"/>
            <a:ext cx="1611108" cy="1611108"/>
          </a:xfrm>
          <a:custGeom>
            <a:avLst/>
            <a:gdLst/>
            <a:ahLst/>
            <a:cxnLst/>
            <a:rect r="r" b="b" t="t" l="l"/>
            <a:pathLst>
              <a:path h="1611108" w="1611108">
                <a:moveTo>
                  <a:pt x="0" y="0"/>
                </a:moveTo>
                <a:lnTo>
                  <a:pt x="1611108" y="0"/>
                </a:lnTo>
                <a:lnTo>
                  <a:pt x="1611108" y="1611108"/>
                </a:lnTo>
                <a:lnTo>
                  <a:pt x="0" y="1611108"/>
                </a:lnTo>
                <a:lnTo>
                  <a:pt x="0" y="0"/>
                </a:lnTo>
                <a:close/>
              </a:path>
            </a:pathLst>
          </a:custGeom>
          <a:blipFill>
            <a:blip r:embed="rId8"/>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EEEFF4"/>
        </a:solidFill>
      </p:bgPr>
    </p:bg>
    <p:spTree>
      <p:nvGrpSpPr>
        <p:cNvPr id="1" name=""/>
        <p:cNvGrpSpPr/>
        <p:nvPr/>
      </p:nvGrpSpPr>
      <p:grpSpPr>
        <a:xfrm>
          <a:off x="0" y="0"/>
          <a:ext cx="0" cy="0"/>
          <a:chOff x="0" y="0"/>
          <a:chExt cx="0" cy="0"/>
        </a:xfrm>
      </p:grpSpPr>
      <p:sp>
        <p:nvSpPr>
          <p:cNvPr name="Freeform 2" id="2"/>
          <p:cNvSpPr/>
          <p:nvPr/>
        </p:nvSpPr>
        <p:spPr>
          <a:xfrm flipH="false" flipV="false" rot="0">
            <a:off x="0" y="220613"/>
            <a:ext cx="4149089" cy="2661592"/>
          </a:xfrm>
          <a:custGeom>
            <a:avLst/>
            <a:gdLst/>
            <a:ahLst/>
            <a:cxnLst/>
            <a:rect r="r" b="b" t="t" l="l"/>
            <a:pathLst>
              <a:path h="2661592" w="4149089">
                <a:moveTo>
                  <a:pt x="0" y="0"/>
                </a:moveTo>
                <a:lnTo>
                  <a:pt x="4149089" y="0"/>
                </a:lnTo>
                <a:lnTo>
                  <a:pt x="4149089" y="2661592"/>
                </a:lnTo>
                <a:lnTo>
                  <a:pt x="0" y="26615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3916387" y="7628845"/>
            <a:ext cx="4149089" cy="2661592"/>
          </a:xfrm>
          <a:custGeom>
            <a:avLst/>
            <a:gdLst/>
            <a:ahLst/>
            <a:cxnLst/>
            <a:rect r="r" b="b" t="t" l="l"/>
            <a:pathLst>
              <a:path h="2661592" w="4149089">
                <a:moveTo>
                  <a:pt x="4149089" y="2661591"/>
                </a:moveTo>
                <a:lnTo>
                  <a:pt x="0" y="2661591"/>
                </a:lnTo>
                <a:lnTo>
                  <a:pt x="0" y="0"/>
                </a:lnTo>
                <a:lnTo>
                  <a:pt x="4149089" y="0"/>
                </a:lnTo>
                <a:lnTo>
                  <a:pt x="4149089" y="2661591"/>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true" rot="0">
            <a:off x="0" y="7400245"/>
            <a:ext cx="4149089" cy="2661592"/>
          </a:xfrm>
          <a:custGeom>
            <a:avLst/>
            <a:gdLst/>
            <a:ahLst/>
            <a:cxnLst/>
            <a:rect r="r" b="b" t="t" l="l"/>
            <a:pathLst>
              <a:path h="2661592" w="4149089">
                <a:moveTo>
                  <a:pt x="0" y="2661591"/>
                </a:moveTo>
                <a:lnTo>
                  <a:pt x="4149089" y="2661591"/>
                </a:lnTo>
                <a:lnTo>
                  <a:pt x="4149089" y="0"/>
                </a:lnTo>
                <a:lnTo>
                  <a:pt x="0" y="0"/>
                </a:lnTo>
                <a:lnTo>
                  <a:pt x="0" y="2661591"/>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true" flipV="false" rot="0">
            <a:off x="14138911" y="-2943"/>
            <a:ext cx="4149089" cy="2661592"/>
          </a:xfrm>
          <a:custGeom>
            <a:avLst/>
            <a:gdLst/>
            <a:ahLst/>
            <a:cxnLst/>
            <a:rect r="r" b="b" t="t" l="l"/>
            <a:pathLst>
              <a:path h="2661592" w="4149089">
                <a:moveTo>
                  <a:pt x="4149089" y="0"/>
                </a:moveTo>
                <a:lnTo>
                  <a:pt x="0" y="0"/>
                </a:lnTo>
                <a:lnTo>
                  <a:pt x="0" y="2661591"/>
                </a:lnTo>
                <a:lnTo>
                  <a:pt x="4149089" y="2661591"/>
                </a:lnTo>
                <a:lnTo>
                  <a:pt x="4149089"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3691695" y="4096430"/>
            <a:ext cx="4720395" cy="2094139"/>
          </a:xfrm>
          <a:custGeom>
            <a:avLst/>
            <a:gdLst/>
            <a:ahLst/>
            <a:cxnLst/>
            <a:rect r="r" b="b" t="t" l="l"/>
            <a:pathLst>
              <a:path h="2094139" w="4720395">
                <a:moveTo>
                  <a:pt x="0" y="0"/>
                </a:moveTo>
                <a:lnTo>
                  <a:pt x="4720395" y="0"/>
                </a:lnTo>
                <a:lnTo>
                  <a:pt x="4720395" y="2094140"/>
                </a:lnTo>
                <a:lnTo>
                  <a:pt x="0" y="209414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17259300" y="4096430"/>
            <a:ext cx="4720395" cy="2094139"/>
          </a:xfrm>
          <a:custGeom>
            <a:avLst/>
            <a:gdLst/>
            <a:ahLst/>
            <a:cxnLst/>
            <a:rect r="r" b="b" t="t" l="l"/>
            <a:pathLst>
              <a:path h="2094139" w="4720395">
                <a:moveTo>
                  <a:pt x="0" y="0"/>
                </a:moveTo>
                <a:lnTo>
                  <a:pt x="4720395" y="0"/>
                </a:lnTo>
                <a:lnTo>
                  <a:pt x="4720395" y="2094140"/>
                </a:lnTo>
                <a:lnTo>
                  <a:pt x="0" y="209414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528638" y="809381"/>
            <a:ext cx="1268369" cy="1484056"/>
          </a:xfrm>
          <a:custGeom>
            <a:avLst/>
            <a:gdLst/>
            <a:ahLst/>
            <a:cxnLst/>
            <a:rect r="r" b="b" t="t" l="l"/>
            <a:pathLst>
              <a:path h="1484056" w="1268369">
                <a:moveTo>
                  <a:pt x="0" y="0"/>
                </a:moveTo>
                <a:lnTo>
                  <a:pt x="1268368" y="0"/>
                </a:lnTo>
                <a:lnTo>
                  <a:pt x="1268368" y="1484056"/>
                </a:lnTo>
                <a:lnTo>
                  <a:pt x="0" y="148405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true" rot="0">
            <a:off x="528638" y="7990795"/>
            <a:ext cx="1268369" cy="1484056"/>
          </a:xfrm>
          <a:custGeom>
            <a:avLst/>
            <a:gdLst/>
            <a:ahLst/>
            <a:cxnLst/>
            <a:rect r="r" b="b" t="t" l="l"/>
            <a:pathLst>
              <a:path h="1484056" w="1268369">
                <a:moveTo>
                  <a:pt x="0" y="1484055"/>
                </a:moveTo>
                <a:lnTo>
                  <a:pt x="1268368" y="1484055"/>
                </a:lnTo>
                <a:lnTo>
                  <a:pt x="1268368" y="0"/>
                </a:lnTo>
                <a:lnTo>
                  <a:pt x="0" y="0"/>
                </a:lnTo>
                <a:lnTo>
                  <a:pt x="0" y="1484055"/>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0" id="10"/>
          <p:cNvSpPr/>
          <p:nvPr/>
        </p:nvSpPr>
        <p:spPr>
          <a:xfrm flipH="true" flipV="false" rot="0">
            <a:off x="16490994" y="564356"/>
            <a:ext cx="1268369" cy="1484056"/>
          </a:xfrm>
          <a:custGeom>
            <a:avLst/>
            <a:gdLst/>
            <a:ahLst/>
            <a:cxnLst/>
            <a:rect r="r" b="b" t="t" l="l"/>
            <a:pathLst>
              <a:path h="1484056" w="1268369">
                <a:moveTo>
                  <a:pt x="1268368" y="0"/>
                </a:moveTo>
                <a:lnTo>
                  <a:pt x="0" y="0"/>
                </a:lnTo>
                <a:lnTo>
                  <a:pt x="0" y="1484056"/>
                </a:lnTo>
                <a:lnTo>
                  <a:pt x="1268368" y="1484056"/>
                </a:lnTo>
                <a:lnTo>
                  <a:pt x="1268368"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1" id="11"/>
          <p:cNvSpPr/>
          <p:nvPr/>
        </p:nvSpPr>
        <p:spPr>
          <a:xfrm flipH="true" flipV="true" rot="0">
            <a:off x="16213455" y="8217612"/>
            <a:ext cx="1268369" cy="1484056"/>
          </a:xfrm>
          <a:custGeom>
            <a:avLst/>
            <a:gdLst/>
            <a:ahLst/>
            <a:cxnLst/>
            <a:rect r="r" b="b" t="t" l="l"/>
            <a:pathLst>
              <a:path h="1484056" w="1268369">
                <a:moveTo>
                  <a:pt x="1268369" y="1484056"/>
                </a:moveTo>
                <a:lnTo>
                  <a:pt x="0" y="1484056"/>
                </a:lnTo>
                <a:lnTo>
                  <a:pt x="0" y="0"/>
                </a:lnTo>
                <a:lnTo>
                  <a:pt x="1268369" y="0"/>
                </a:lnTo>
                <a:lnTo>
                  <a:pt x="1268369" y="1484056"/>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2" id="12"/>
          <p:cNvSpPr txBox="true"/>
          <p:nvPr/>
        </p:nvSpPr>
        <p:spPr>
          <a:xfrm rot="0">
            <a:off x="1797006" y="1915062"/>
            <a:ext cx="13073196" cy="1234908"/>
          </a:xfrm>
          <a:prstGeom prst="rect">
            <a:avLst/>
          </a:prstGeom>
        </p:spPr>
        <p:txBody>
          <a:bodyPr anchor="t" rtlCol="false" tIns="0" lIns="0" bIns="0" rIns="0">
            <a:spAutoFit/>
          </a:bodyPr>
          <a:lstStyle/>
          <a:p>
            <a:pPr algn="ctr">
              <a:lnSpc>
                <a:spcPts val="10134"/>
              </a:lnSpc>
            </a:pPr>
            <a:r>
              <a:rPr lang="en-US" b="true" sz="7238">
                <a:solidFill>
                  <a:srgbClr val="545454"/>
                </a:solidFill>
                <a:latin typeface="Noto Serif Devanagari Bold"/>
                <a:ea typeface="Noto Serif Devanagari Bold"/>
                <a:cs typeface="Noto Serif Devanagari Bold"/>
                <a:sym typeface="Noto Serif Devanagari Bold"/>
              </a:rPr>
              <a:t>ANALYSIS AND DESIGN </a:t>
            </a:r>
          </a:p>
        </p:txBody>
      </p:sp>
      <p:sp>
        <p:nvSpPr>
          <p:cNvPr name="TextBox 13" id="13"/>
          <p:cNvSpPr txBox="true"/>
          <p:nvPr/>
        </p:nvSpPr>
        <p:spPr>
          <a:xfrm rot="0">
            <a:off x="1217048" y="2815530"/>
            <a:ext cx="15273945" cy="7083999"/>
          </a:xfrm>
          <a:prstGeom prst="rect">
            <a:avLst/>
          </a:prstGeom>
        </p:spPr>
        <p:txBody>
          <a:bodyPr anchor="t" rtlCol="false" tIns="0" lIns="0" bIns="0" rIns="0">
            <a:spAutoFit/>
          </a:bodyPr>
          <a:lstStyle/>
          <a:p>
            <a:pPr algn="just" marL="669352" indent="-334676" lvl="1">
              <a:lnSpc>
                <a:spcPts val="4340"/>
              </a:lnSpc>
              <a:buFont typeface="Arial"/>
              <a:buChar char="•"/>
            </a:pPr>
            <a:r>
              <a:rPr lang="en-US" sz="3100">
                <a:solidFill>
                  <a:srgbClr val="545454"/>
                </a:solidFill>
                <a:latin typeface="Gowun Batang"/>
                <a:ea typeface="Gowun Batang"/>
                <a:cs typeface="Gowun Batang"/>
                <a:sym typeface="Gowun Batang"/>
              </a:rPr>
              <a:t>Architecture: CerTrack is a browser-based multi-role web app with HTML5 for structure, CSS3 for responsive layout and JavaScript for all application logic, using localStorage for Phase‑1 data storage.</a:t>
            </a:r>
          </a:p>
          <a:p>
            <a:pPr algn="just" marL="669352" indent="-334676" lvl="1">
              <a:lnSpc>
                <a:spcPts val="4340"/>
              </a:lnSpc>
              <a:buFont typeface="Arial"/>
              <a:buChar char="•"/>
            </a:pPr>
            <a:r>
              <a:rPr lang="en-US" sz="3100">
                <a:solidFill>
                  <a:srgbClr val="545454"/>
                </a:solidFill>
                <a:latin typeface="Gowun Batang"/>
                <a:ea typeface="Gowun Batang"/>
                <a:cs typeface="Gowun Batang"/>
                <a:sym typeface="Gowun Batang"/>
              </a:rPr>
              <a:t>Roles and Portals: Separate portals exist for Student, Teacher and Admin, each with its own HTML page and JS file, implementing clear role-based access to features like certificates, leave requests, verification and user management.</a:t>
            </a:r>
          </a:p>
          <a:p>
            <a:pPr algn="just" marL="669352" indent="-334676" lvl="1">
              <a:lnSpc>
                <a:spcPts val="4340"/>
              </a:lnSpc>
              <a:buFont typeface="Arial"/>
              <a:buChar char="•"/>
            </a:pPr>
            <a:r>
              <a:rPr lang="en-US" sz="3100">
                <a:solidFill>
                  <a:srgbClr val="545454"/>
                </a:solidFill>
                <a:latin typeface="Gowun Batang"/>
                <a:ea typeface="Gowun Batang"/>
                <a:cs typeface="Gowun Batang"/>
                <a:sym typeface="Gowun Batang"/>
              </a:rPr>
              <a:t>Data Design: Core entities (User, Certificate, LeaveRequest, Course/Contest) are stored as structured JSON objects in localStorage, designed so they can later be mapped directly to database tables in a backend.</a:t>
            </a:r>
          </a:p>
          <a:p>
            <a:pPr algn="just" marL="669352" indent="-334676" lvl="1">
              <a:lnSpc>
                <a:spcPts val="4340"/>
              </a:lnSpc>
              <a:buFont typeface="Arial"/>
              <a:buChar char="•"/>
            </a:pPr>
            <a:r>
              <a:rPr lang="en-US" sz="3100">
                <a:solidFill>
                  <a:srgbClr val="545454"/>
                </a:solidFill>
                <a:latin typeface="Gowun Batang"/>
                <a:ea typeface="Gowun Batang"/>
                <a:cs typeface="Gowun Batang"/>
                <a:sym typeface="Gowun Batang"/>
              </a:rPr>
              <a:t>UI/UX: The system uses dashboard-style layouts with tabs/cards, clean typography and Flexbox/Grid-based responsive design to keep the interface simple and usable on desktop and mobile devices.</a:t>
            </a:r>
          </a:p>
          <a:p>
            <a:pPr algn="just">
              <a:lnSpc>
                <a:spcPts val="4340"/>
              </a:lnSpc>
            </a:pPr>
          </a:p>
        </p:txBody>
      </p:sp>
      <p:sp>
        <p:nvSpPr>
          <p:cNvPr name="TextBox 14" id="14"/>
          <p:cNvSpPr txBox="true"/>
          <p:nvPr/>
        </p:nvSpPr>
        <p:spPr>
          <a:xfrm rot="0">
            <a:off x="7747381" y="583406"/>
            <a:ext cx="5544054" cy="821908"/>
          </a:xfrm>
          <a:prstGeom prst="rect">
            <a:avLst/>
          </a:prstGeom>
        </p:spPr>
        <p:txBody>
          <a:bodyPr anchor="t" rtlCol="false" tIns="0" lIns="0" bIns="0" rIns="0">
            <a:spAutoFit/>
          </a:bodyPr>
          <a:lstStyle/>
          <a:p>
            <a:pPr algn="ctr">
              <a:lnSpc>
                <a:spcPts val="3262"/>
              </a:lnSpc>
            </a:pPr>
            <a:r>
              <a:rPr lang="en-US" sz="2861" i="true">
                <a:solidFill>
                  <a:srgbClr val="545454"/>
                </a:solidFill>
                <a:latin typeface="Nunito Sans Italics"/>
                <a:ea typeface="Nunito Sans Italics"/>
                <a:cs typeface="Nunito Sans Italics"/>
                <a:sym typeface="Nunito Sans Italics"/>
              </a:rPr>
              <a:t>Dayananda Sagar Academy of Technology and management</a:t>
            </a:r>
          </a:p>
        </p:txBody>
      </p:sp>
      <p:sp>
        <p:nvSpPr>
          <p:cNvPr name="Freeform 15" id="15"/>
          <p:cNvSpPr/>
          <p:nvPr/>
        </p:nvSpPr>
        <p:spPr>
          <a:xfrm flipH="false" flipV="false" rot="0">
            <a:off x="5618268" y="223146"/>
            <a:ext cx="1611108" cy="1611108"/>
          </a:xfrm>
          <a:custGeom>
            <a:avLst/>
            <a:gdLst/>
            <a:ahLst/>
            <a:cxnLst/>
            <a:rect r="r" b="b" t="t" l="l"/>
            <a:pathLst>
              <a:path h="1611108" w="1611108">
                <a:moveTo>
                  <a:pt x="0" y="0"/>
                </a:moveTo>
                <a:lnTo>
                  <a:pt x="1611109" y="0"/>
                </a:lnTo>
                <a:lnTo>
                  <a:pt x="1611109" y="1611108"/>
                </a:lnTo>
                <a:lnTo>
                  <a:pt x="0" y="1611108"/>
                </a:lnTo>
                <a:lnTo>
                  <a:pt x="0" y="0"/>
                </a:lnTo>
                <a:close/>
              </a:path>
            </a:pathLst>
          </a:custGeom>
          <a:blipFill>
            <a:blip r:embed="rId8"/>
            <a:stretch>
              <a:fillRect l="0" t="0" r="0"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EEEFF4"/>
        </a:solidFill>
      </p:bgPr>
    </p:bg>
    <p:spTree>
      <p:nvGrpSpPr>
        <p:cNvPr id="1" name=""/>
        <p:cNvGrpSpPr/>
        <p:nvPr/>
      </p:nvGrpSpPr>
      <p:grpSpPr>
        <a:xfrm>
          <a:off x="0" y="0"/>
          <a:ext cx="0" cy="0"/>
          <a:chOff x="0" y="0"/>
          <a:chExt cx="0" cy="0"/>
        </a:xfrm>
      </p:grpSpPr>
      <p:sp>
        <p:nvSpPr>
          <p:cNvPr name="Freeform 2" id="2"/>
          <p:cNvSpPr/>
          <p:nvPr/>
        </p:nvSpPr>
        <p:spPr>
          <a:xfrm flipH="false" flipV="false" rot="0">
            <a:off x="0" y="-2943"/>
            <a:ext cx="4149089" cy="2661592"/>
          </a:xfrm>
          <a:custGeom>
            <a:avLst/>
            <a:gdLst/>
            <a:ahLst/>
            <a:cxnLst/>
            <a:rect r="r" b="b" t="t" l="l"/>
            <a:pathLst>
              <a:path h="2661592" w="4149089">
                <a:moveTo>
                  <a:pt x="0" y="0"/>
                </a:moveTo>
                <a:lnTo>
                  <a:pt x="4149089" y="0"/>
                </a:lnTo>
                <a:lnTo>
                  <a:pt x="4149089" y="2661591"/>
                </a:lnTo>
                <a:lnTo>
                  <a:pt x="0" y="266159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4138911" y="7592527"/>
            <a:ext cx="4149089" cy="2661592"/>
          </a:xfrm>
          <a:custGeom>
            <a:avLst/>
            <a:gdLst/>
            <a:ahLst/>
            <a:cxnLst/>
            <a:rect r="r" b="b" t="t" l="l"/>
            <a:pathLst>
              <a:path h="2661592" w="4149089">
                <a:moveTo>
                  <a:pt x="4149089" y="2661591"/>
                </a:moveTo>
                <a:lnTo>
                  <a:pt x="0" y="2661591"/>
                </a:lnTo>
                <a:lnTo>
                  <a:pt x="0" y="0"/>
                </a:lnTo>
                <a:lnTo>
                  <a:pt x="4149089" y="0"/>
                </a:lnTo>
                <a:lnTo>
                  <a:pt x="4149089" y="2661591"/>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true" rot="0">
            <a:off x="0" y="7625408"/>
            <a:ext cx="4149089" cy="2661592"/>
          </a:xfrm>
          <a:custGeom>
            <a:avLst/>
            <a:gdLst/>
            <a:ahLst/>
            <a:cxnLst/>
            <a:rect r="r" b="b" t="t" l="l"/>
            <a:pathLst>
              <a:path h="2661592" w="4149089">
                <a:moveTo>
                  <a:pt x="0" y="2661592"/>
                </a:moveTo>
                <a:lnTo>
                  <a:pt x="4149089" y="2661592"/>
                </a:lnTo>
                <a:lnTo>
                  <a:pt x="4149089" y="0"/>
                </a:lnTo>
                <a:lnTo>
                  <a:pt x="0" y="0"/>
                </a:lnTo>
                <a:lnTo>
                  <a:pt x="0" y="2661592"/>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true" flipV="false" rot="0">
            <a:off x="13916387" y="37257"/>
            <a:ext cx="4149089" cy="2661592"/>
          </a:xfrm>
          <a:custGeom>
            <a:avLst/>
            <a:gdLst/>
            <a:ahLst/>
            <a:cxnLst/>
            <a:rect r="r" b="b" t="t" l="l"/>
            <a:pathLst>
              <a:path h="2661592" w="4149089">
                <a:moveTo>
                  <a:pt x="4149089" y="0"/>
                </a:moveTo>
                <a:lnTo>
                  <a:pt x="0" y="0"/>
                </a:lnTo>
                <a:lnTo>
                  <a:pt x="0" y="2661592"/>
                </a:lnTo>
                <a:lnTo>
                  <a:pt x="4149089" y="2661592"/>
                </a:lnTo>
                <a:lnTo>
                  <a:pt x="4149089"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3691695" y="4096430"/>
            <a:ext cx="4720395" cy="2094139"/>
          </a:xfrm>
          <a:custGeom>
            <a:avLst/>
            <a:gdLst/>
            <a:ahLst/>
            <a:cxnLst/>
            <a:rect r="r" b="b" t="t" l="l"/>
            <a:pathLst>
              <a:path h="2094139" w="4720395">
                <a:moveTo>
                  <a:pt x="0" y="0"/>
                </a:moveTo>
                <a:lnTo>
                  <a:pt x="4720395" y="0"/>
                </a:lnTo>
                <a:lnTo>
                  <a:pt x="4720395" y="2094140"/>
                </a:lnTo>
                <a:lnTo>
                  <a:pt x="0" y="209414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17259300" y="4096430"/>
            <a:ext cx="4720395" cy="2094139"/>
          </a:xfrm>
          <a:custGeom>
            <a:avLst/>
            <a:gdLst/>
            <a:ahLst/>
            <a:cxnLst/>
            <a:rect r="r" b="b" t="t" l="l"/>
            <a:pathLst>
              <a:path h="2094139" w="4720395">
                <a:moveTo>
                  <a:pt x="0" y="0"/>
                </a:moveTo>
                <a:lnTo>
                  <a:pt x="4720395" y="0"/>
                </a:lnTo>
                <a:lnTo>
                  <a:pt x="4720395" y="2094140"/>
                </a:lnTo>
                <a:lnTo>
                  <a:pt x="0" y="209414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528638" y="626025"/>
            <a:ext cx="1268369" cy="1484056"/>
          </a:xfrm>
          <a:custGeom>
            <a:avLst/>
            <a:gdLst/>
            <a:ahLst/>
            <a:cxnLst/>
            <a:rect r="r" b="b" t="t" l="l"/>
            <a:pathLst>
              <a:path h="1484056" w="1268369">
                <a:moveTo>
                  <a:pt x="0" y="0"/>
                </a:moveTo>
                <a:lnTo>
                  <a:pt x="1268368" y="0"/>
                </a:lnTo>
                <a:lnTo>
                  <a:pt x="1268368" y="1484056"/>
                </a:lnTo>
                <a:lnTo>
                  <a:pt x="0" y="148405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true" rot="0">
            <a:off x="528638" y="8181295"/>
            <a:ext cx="1268369" cy="1484056"/>
          </a:xfrm>
          <a:custGeom>
            <a:avLst/>
            <a:gdLst/>
            <a:ahLst/>
            <a:cxnLst/>
            <a:rect r="r" b="b" t="t" l="l"/>
            <a:pathLst>
              <a:path h="1484056" w="1268369">
                <a:moveTo>
                  <a:pt x="0" y="1484055"/>
                </a:moveTo>
                <a:lnTo>
                  <a:pt x="1268368" y="1484055"/>
                </a:lnTo>
                <a:lnTo>
                  <a:pt x="1268368" y="0"/>
                </a:lnTo>
                <a:lnTo>
                  <a:pt x="0" y="0"/>
                </a:lnTo>
                <a:lnTo>
                  <a:pt x="0" y="1484055"/>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0" id="10"/>
          <p:cNvSpPr/>
          <p:nvPr/>
        </p:nvSpPr>
        <p:spPr>
          <a:xfrm flipH="true" flipV="false" rot="0">
            <a:off x="16213455" y="626025"/>
            <a:ext cx="1268369" cy="1484056"/>
          </a:xfrm>
          <a:custGeom>
            <a:avLst/>
            <a:gdLst/>
            <a:ahLst/>
            <a:cxnLst/>
            <a:rect r="r" b="b" t="t" l="l"/>
            <a:pathLst>
              <a:path h="1484056" w="1268369">
                <a:moveTo>
                  <a:pt x="1268369" y="0"/>
                </a:moveTo>
                <a:lnTo>
                  <a:pt x="0" y="0"/>
                </a:lnTo>
                <a:lnTo>
                  <a:pt x="0" y="1484056"/>
                </a:lnTo>
                <a:lnTo>
                  <a:pt x="1268369" y="1484056"/>
                </a:lnTo>
                <a:lnTo>
                  <a:pt x="1268369"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1" id="11"/>
          <p:cNvSpPr/>
          <p:nvPr/>
        </p:nvSpPr>
        <p:spPr>
          <a:xfrm flipH="true" flipV="true" rot="0">
            <a:off x="16490994" y="8181295"/>
            <a:ext cx="1268369" cy="1484056"/>
          </a:xfrm>
          <a:custGeom>
            <a:avLst/>
            <a:gdLst/>
            <a:ahLst/>
            <a:cxnLst/>
            <a:rect r="r" b="b" t="t" l="l"/>
            <a:pathLst>
              <a:path h="1484056" w="1268369">
                <a:moveTo>
                  <a:pt x="1268368" y="1484055"/>
                </a:moveTo>
                <a:lnTo>
                  <a:pt x="0" y="1484055"/>
                </a:lnTo>
                <a:lnTo>
                  <a:pt x="0" y="0"/>
                </a:lnTo>
                <a:lnTo>
                  <a:pt x="1268368" y="0"/>
                </a:lnTo>
                <a:lnTo>
                  <a:pt x="1268368" y="1484055"/>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2" id="12"/>
          <p:cNvSpPr txBox="true"/>
          <p:nvPr/>
        </p:nvSpPr>
        <p:spPr>
          <a:xfrm rot="0">
            <a:off x="2690057" y="1902842"/>
            <a:ext cx="10740816" cy="1277474"/>
          </a:xfrm>
          <a:prstGeom prst="rect">
            <a:avLst/>
          </a:prstGeom>
        </p:spPr>
        <p:txBody>
          <a:bodyPr anchor="t" rtlCol="false" tIns="0" lIns="0" bIns="0" rIns="0">
            <a:spAutoFit/>
          </a:bodyPr>
          <a:lstStyle/>
          <a:p>
            <a:pPr algn="ctr">
              <a:lnSpc>
                <a:spcPts val="10438"/>
              </a:lnSpc>
            </a:pPr>
            <a:r>
              <a:rPr lang="en-US" b="true" sz="7455">
                <a:solidFill>
                  <a:srgbClr val="545454"/>
                </a:solidFill>
                <a:latin typeface="Noto Serif Devanagari Bold"/>
                <a:ea typeface="Noto Serif Devanagari Bold"/>
                <a:cs typeface="Noto Serif Devanagari Bold"/>
                <a:sym typeface="Noto Serif Devanagari Bold"/>
              </a:rPr>
              <a:t>IMPLEMENTATION</a:t>
            </a:r>
          </a:p>
        </p:txBody>
      </p:sp>
      <p:sp>
        <p:nvSpPr>
          <p:cNvPr name="TextBox 13" id="13"/>
          <p:cNvSpPr txBox="true"/>
          <p:nvPr/>
        </p:nvSpPr>
        <p:spPr>
          <a:xfrm rot="0">
            <a:off x="1662884" y="3551193"/>
            <a:ext cx="14962231" cy="5212078"/>
          </a:xfrm>
          <a:prstGeom prst="rect">
            <a:avLst/>
          </a:prstGeom>
        </p:spPr>
        <p:txBody>
          <a:bodyPr anchor="t" rtlCol="false" tIns="0" lIns="0" bIns="0" rIns="0">
            <a:spAutoFit/>
          </a:bodyPr>
          <a:lstStyle/>
          <a:p>
            <a:pPr algn="just" marL="712483" indent="-356241" lvl="1">
              <a:lnSpc>
                <a:spcPts val="4620"/>
              </a:lnSpc>
              <a:buAutoNum type="arabicPeriod" startAt="1"/>
            </a:pPr>
            <a:r>
              <a:rPr lang="en-US" sz="3300">
                <a:solidFill>
                  <a:srgbClr val="545454"/>
                </a:solidFill>
                <a:latin typeface="Gowun Batang"/>
                <a:ea typeface="Gowun Batang"/>
                <a:cs typeface="Gowun Batang"/>
                <a:sym typeface="Gowun Batang"/>
              </a:rPr>
              <a:t>Frontend Stack - HTML5, CSS3 (Flexbox/Grid), JavaScript ES6+</a:t>
            </a:r>
          </a:p>
          <a:p>
            <a:pPr algn="just" marL="712483" indent="-356241" lvl="1">
              <a:lnSpc>
                <a:spcPts val="4620"/>
              </a:lnSpc>
              <a:buAutoNum type="arabicPeriod" startAt="1"/>
            </a:pPr>
            <a:r>
              <a:rPr lang="en-US" sz="3300">
                <a:solidFill>
                  <a:srgbClr val="545454"/>
                </a:solidFill>
                <a:latin typeface="Gowun Batang"/>
                <a:ea typeface="Gowun Batang"/>
                <a:cs typeface="Gowun Batang"/>
                <a:sym typeface="Gowun Batang"/>
              </a:rPr>
              <a:t>Modular Code Structure - Separate files for each portal (student, teacher, admin)</a:t>
            </a:r>
          </a:p>
          <a:p>
            <a:pPr algn="just" marL="712483" indent="-356241" lvl="1">
              <a:lnSpc>
                <a:spcPts val="4620"/>
              </a:lnSpc>
              <a:buAutoNum type="arabicPeriod" startAt="1"/>
            </a:pPr>
            <a:r>
              <a:rPr lang="en-US" sz="3300">
                <a:solidFill>
                  <a:srgbClr val="545454"/>
                </a:solidFill>
                <a:latin typeface="Gowun Batang"/>
                <a:ea typeface="Gowun Batang"/>
                <a:cs typeface="Gowun Batang"/>
                <a:sym typeface="Gowun Batang"/>
              </a:rPr>
              <a:t>Core Features Built - Certificate management, Resume builder, Leave system, Course discovery</a:t>
            </a:r>
          </a:p>
          <a:p>
            <a:pPr algn="just" marL="712483" indent="-356241" lvl="1">
              <a:lnSpc>
                <a:spcPts val="4620"/>
              </a:lnSpc>
              <a:buAutoNum type="arabicPeriod" startAt="1"/>
            </a:pPr>
            <a:r>
              <a:rPr lang="en-US" sz="3300">
                <a:solidFill>
                  <a:srgbClr val="545454"/>
                </a:solidFill>
                <a:latin typeface="Gowun Batang"/>
                <a:ea typeface="Gowun Batang"/>
                <a:cs typeface="Gowun Batang"/>
                <a:sym typeface="Gowun Batang"/>
              </a:rPr>
              <a:t>Data Handling - How localStorage stores/retrieves data</a:t>
            </a:r>
          </a:p>
          <a:p>
            <a:pPr algn="just" marL="712483" indent="-356241" lvl="1">
              <a:lnSpc>
                <a:spcPts val="4620"/>
              </a:lnSpc>
              <a:buAutoNum type="arabicPeriod" startAt="1"/>
            </a:pPr>
            <a:r>
              <a:rPr lang="en-US" sz="3300">
                <a:solidFill>
                  <a:srgbClr val="545454"/>
                </a:solidFill>
                <a:latin typeface="Gowun Batang"/>
                <a:ea typeface="Gowun Batang"/>
                <a:cs typeface="Gowun Batang"/>
                <a:sym typeface="Gowun Batang"/>
              </a:rPr>
              <a:t>UI/UX Implementation - Tab switching, card-based lists, form validation</a:t>
            </a:r>
          </a:p>
          <a:p>
            <a:pPr algn="just" marL="712483" indent="-356241" lvl="1">
              <a:lnSpc>
                <a:spcPts val="4620"/>
              </a:lnSpc>
              <a:buAutoNum type="arabicPeriod" startAt="1"/>
            </a:pPr>
            <a:r>
              <a:rPr lang="en-US" sz="3300">
                <a:solidFill>
                  <a:srgbClr val="545454"/>
                </a:solidFill>
                <a:latin typeface="Gowun Batang"/>
                <a:ea typeface="Gowun Batang"/>
                <a:cs typeface="Gowun Batang"/>
                <a:sym typeface="Gowun Batang"/>
              </a:rPr>
              <a:t>Testing &amp; Quality - Browser compatibility, responsive design, form validation</a:t>
            </a:r>
          </a:p>
          <a:p>
            <a:pPr algn="just">
              <a:lnSpc>
                <a:spcPts val="4620"/>
              </a:lnSpc>
            </a:pPr>
          </a:p>
        </p:txBody>
      </p:sp>
      <p:sp>
        <p:nvSpPr>
          <p:cNvPr name="TextBox 14" id="14"/>
          <p:cNvSpPr txBox="true"/>
          <p:nvPr/>
        </p:nvSpPr>
        <p:spPr>
          <a:xfrm rot="0">
            <a:off x="8239866" y="96370"/>
            <a:ext cx="5370408" cy="821908"/>
          </a:xfrm>
          <a:prstGeom prst="rect">
            <a:avLst/>
          </a:prstGeom>
        </p:spPr>
        <p:txBody>
          <a:bodyPr anchor="t" rtlCol="false" tIns="0" lIns="0" bIns="0" rIns="0">
            <a:spAutoFit/>
          </a:bodyPr>
          <a:lstStyle/>
          <a:p>
            <a:pPr algn="ctr">
              <a:lnSpc>
                <a:spcPts val="3262"/>
              </a:lnSpc>
            </a:pPr>
            <a:r>
              <a:rPr lang="en-US" sz="2861" i="true">
                <a:solidFill>
                  <a:srgbClr val="545454"/>
                </a:solidFill>
                <a:latin typeface="Nunito Sans Italics"/>
                <a:ea typeface="Nunito Sans Italics"/>
                <a:cs typeface="Nunito Sans Italics"/>
                <a:sym typeface="Nunito Sans Italics"/>
              </a:rPr>
              <a:t>Dayananda Sagar Academy of Technology and management</a:t>
            </a:r>
          </a:p>
        </p:txBody>
      </p:sp>
      <p:sp>
        <p:nvSpPr>
          <p:cNvPr name="Freeform 15" id="15"/>
          <p:cNvSpPr/>
          <p:nvPr/>
        </p:nvSpPr>
        <p:spPr>
          <a:xfrm flipH="false" flipV="false" rot="0">
            <a:off x="5770668" y="-2943"/>
            <a:ext cx="1611108" cy="1611108"/>
          </a:xfrm>
          <a:custGeom>
            <a:avLst/>
            <a:gdLst/>
            <a:ahLst/>
            <a:cxnLst/>
            <a:rect r="r" b="b" t="t" l="l"/>
            <a:pathLst>
              <a:path h="1611108" w="1611108">
                <a:moveTo>
                  <a:pt x="0" y="0"/>
                </a:moveTo>
                <a:lnTo>
                  <a:pt x="1611109" y="0"/>
                </a:lnTo>
                <a:lnTo>
                  <a:pt x="1611109" y="1611108"/>
                </a:lnTo>
                <a:lnTo>
                  <a:pt x="0" y="1611108"/>
                </a:lnTo>
                <a:lnTo>
                  <a:pt x="0" y="0"/>
                </a:lnTo>
                <a:close/>
              </a:path>
            </a:pathLst>
          </a:custGeom>
          <a:blipFill>
            <a:blip r:embed="rId8"/>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EEEFF4"/>
        </a:solidFill>
      </p:bgPr>
    </p:bg>
    <p:spTree>
      <p:nvGrpSpPr>
        <p:cNvPr id="1" name=""/>
        <p:cNvGrpSpPr/>
        <p:nvPr/>
      </p:nvGrpSpPr>
      <p:grpSpPr>
        <a:xfrm>
          <a:off x="0" y="0"/>
          <a:ext cx="0" cy="0"/>
          <a:chOff x="0" y="0"/>
          <a:chExt cx="0" cy="0"/>
        </a:xfrm>
      </p:grpSpPr>
      <p:sp>
        <p:nvSpPr>
          <p:cNvPr name="Freeform 2" id="2"/>
          <p:cNvSpPr/>
          <p:nvPr/>
        </p:nvSpPr>
        <p:spPr>
          <a:xfrm flipH="false" flipV="false" rot="0">
            <a:off x="0" y="64604"/>
            <a:ext cx="4149089" cy="2661592"/>
          </a:xfrm>
          <a:custGeom>
            <a:avLst/>
            <a:gdLst/>
            <a:ahLst/>
            <a:cxnLst/>
            <a:rect r="r" b="b" t="t" l="l"/>
            <a:pathLst>
              <a:path h="2661592" w="4149089">
                <a:moveTo>
                  <a:pt x="0" y="0"/>
                </a:moveTo>
                <a:lnTo>
                  <a:pt x="4149089" y="0"/>
                </a:lnTo>
                <a:lnTo>
                  <a:pt x="4149089" y="2661592"/>
                </a:lnTo>
                <a:lnTo>
                  <a:pt x="0" y="26615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4138911" y="7625408"/>
            <a:ext cx="4149089" cy="2661592"/>
          </a:xfrm>
          <a:custGeom>
            <a:avLst/>
            <a:gdLst/>
            <a:ahLst/>
            <a:cxnLst/>
            <a:rect r="r" b="b" t="t" l="l"/>
            <a:pathLst>
              <a:path h="2661592" w="4149089">
                <a:moveTo>
                  <a:pt x="4149089" y="2661592"/>
                </a:moveTo>
                <a:lnTo>
                  <a:pt x="0" y="2661592"/>
                </a:lnTo>
                <a:lnTo>
                  <a:pt x="0" y="0"/>
                </a:lnTo>
                <a:lnTo>
                  <a:pt x="4149089" y="0"/>
                </a:lnTo>
                <a:lnTo>
                  <a:pt x="4149089" y="2661592"/>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true" rot="0">
            <a:off x="0" y="7562170"/>
            <a:ext cx="4149089" cy="2661592"/>
          </a:xfrm>
          <a:custGeom>
            <a:avLst/>
            <a:gdLst/>
            <a:ahLst/>
            <a:cxnLst/>
            <a:rect r="r" b="b" t="t" l="l"/>
            <a:pathLst>
              <a:path h="2661592" w="4149089">
                <a:moveTo>
                  <a:pt x="0" y="2661591"/>
                </a:moveTo>
                <a:lnTo>
                  <a:pt x="4149089" y="2661591"/>
                </a:lnTo>
                <a:lnTo>
                  <a:pt x="4149089" y="0"/>
                </a:lnTo>
                <a:lnTo>
                  <a:pt x="0" y="0"/>
                </a:lnTo>
                <a:lnTo>
                  <a:pt x="0" y="2661591"/>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true" flipV="false" rot="0">
            <a:off x="13916387" y="154019"/>
            <a:ext cx="4149089" cy="2661592"/>
          </a:xfrm>
          <a:custGeom>
            <a:avLst/>
            <a:gdLst/>
            <a:ahLst/>
            <a:cxnLst/>
            <a:rect r="r" b="b" t="t" l="l"/>
            <a:pathLst>
              <a:path h="2661592" w="4149089">
                <a:moveTo>
                  <a:pt x="4149089" y="0"/>
                </a:moveTo>
                <a:lnTo>
                  <a:pt x="0" y="0"/>
                </a:lnTo>
                <a:lnTo>
                  <a:pt x="0" y="2661591"/>
                </a:lnTo>
                <a:lnTo>
                  <a:pt x="4149089" y="2661591"/>
                </a:lnTo>
                <a:lnTo>
                  <a:pt x="4149089"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3691695" y="4096430"/>
            <a:ext cx="4720395" cy="2094139"/>
          </a:xfrm>
          <a:custGeom>
            <a:avLst/>
            <a:gdLst/>
            <a:ahLst/>
            <a:cxnLst/>
            <a:rect r="r" b="b" t="t" l="l"/>
            <a:pathLst>
              <a:path h="2094139" w="4720395">
                <a:moveTo>
                  <a:pt x="0" y="0"/>
                </a:moveTo>
                <a:lnTo>
                  <a:pt x="4720395" y="0"/>
                </a:lnTo>
                <a:lnTo>
                  <a:pt x="4720395" y="2094140"/>
                </a:lnTo>
                <a:lnTo>
                  <a:pt x="0" y="209414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17259300" y="4096430"/>
            <a:ext cx="4720395" cy="2094139"/>
          </a:xfrm>
          <a:custGeom>
            <a:avLst/>
            <a:gdLst/>
            <a:ahLst/>
            <a:cxnLst/>
            <a:rect r="r" b="b" t="t" l="l"/>
            <a:pathLst>
              <a:path h="2094139" w="4720395">
                <a:moveTo>
                  <a:pt x="0" y="0"/>
                </a:moveTo>
                <a:lnTo>
                  <a:pt x="4720395" y="0"/>
                </a:lnTo>
                <a:lnTo>
                  <a:pt x="4720395" y="2094140"/>
                </a:lnTo>
                <a:lnTo>
                  <a:pt x="0" y="209414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528638" y="742786"/>
            <a:ext cx="1268369" cy="1484056"/>
          </a:xfrm>
          <a:custGeom>
            <a:avLst/>
            <a:gdLst/>
            <a:ahLst/>
            <a:cxnLst/>
            <a:rect r="r" b="b" t="t" l="l"/>
            <a:pathLst>
              <a:path h="1484056" w="1268369">
                <a:moveTo>
                  <a:pt x="0" y="0"/>
                </a:moveTo>
                <a:lnTo>
                  <a:pt x="1268368" y="0"/>
                </a:lnTo>
                <a:lnTo>
                  <a:pt x="1268368" y="1484056"/>
                </a:lnTo>
                <a:lnTo>
                  <a:pt x="0" y="148405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true" rot="0">
            <a:off x="528637" y="8150937"/>
            <a:ext cx="1268369" cy="1484056"/>
          </a:xfrm>
          <a:custGeom>
            <a:avLst/>
            <a:gdLst/>
            <a:ahLst/>
            <a:cxnLst/>
            <a:rect r="r" b="b" t="t" l="l"/>
            <a:pathLst>
              <a:path h="1484056" w="1268369">
                <a:moveTo>
                  <a:pt x="0" y="1484056"/>
                </a:moveTo>
                <a:lnTo>
                  <a:pt x="1268369" y="1484056"/>
                </a:lnTo>
                <a:lnTo>
                  <a:pt x="1268369" y="0"/>
                </a:lnTo>
                <a:lnTo>
                  <a:pt x="0" y="0"/>
                </a:lnTo>
                <a:lnTo>
                  <a:pt x="0" y="1484056"/>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0" id="10"/>
          <p:cNvSpPr/>
          <p:nvPr/>
        </p:nvSpPr>
        <p:spPr>
          <a:xfrm flipH="true" flipV="false" rot="0">
            <a:off x="16213455" y="742786"/>
            <a:ext cx="1268369" cy="1484056"/>
          </a:xfrm>
          <a:custGeom>
            <a:avLst/>
            <a:gdLst/>
            <a:ahLst/>
            <a:cxnLst/>
            <a:rect r="r" b="b" t="t" l="l"/>
            <a:pathLst>
              <a:path h="1484056" w="1268369">
                <a:moveTo>
                  <a:pt x="1268369" y="0"/>
                </a:moveTo>
                <a:lnTo>
                  <a:pt x="0" y="0"/>
                </a:lnTo>
                <a:lnTo>
                  <a:pt x="0" y="1484056"/>
                </a:lnTo>
                <a:lnTo>
                  <a:pt x="1268369" y="1484056"/>
                </a:lnTo>
                <a:lnTo>
                  <a:pt x="1268369"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1" id="11"/>
          <p:cNvSpPr/>
          <p:nvPr/>
        </p:nvSpPr>
        <p:spPr>
          <a:xfrm flipH="true" flipV="true" rot="0">
            <a:off x="16490994" y="8150937"/>
            <a:ext cx="1268369" cy="1484056"/>
          </a:xfrm>
          <a:custGeom>
            <a:avLst/>
            <a:gdLst/>
            <a:ahLst/>
            <a:cxnLst/>
            <a:rect r="r" b="b" t="t" l="l"/>
            <a:pathLst>
              <a:path h="1484056" w="1268369">
                <a:moveTo>
                  <a:pt x="1268368" y="1484056"/>
                </a:moveTo>
                <a:lnTo>
                  <a:pt x="0" y="1484056"/>
                </a:lnTo>
                <a:lnTo>
                  <a:pt x="0" y="0"/>
                </a:lnTo>
                <a:lnTo>
                  <a:pt x="1268368" y="0"/>
                </a:lnTo>
                <a:lnTo>
                  <a:pt x="1268368" y="1484056"/>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2" id="12"/>
          <p:cNvSpPr txBox="true"/>
          <p:nvPr/>
        </p:nvSpPr>
        <p:spPr>
          <a:xfrm rot="0">
            <a:off x="3411397" y="2016021"/>
            <a:ext cx="8890599" cy="1277474"/>
          </a:xfrm>
          <a:prstGeom prst="rect">
            <a:avLst/>
          </a:prstGeom>
        </p:spPr>
        <p:txBody>
          <a:bodyPr anchor="t" rtlCol="false" tIns="0" lIns="0" bIns="0" rIns="0">
            <a:spAutoFit/>
          </a:bodyPr>
          <a:lstStyle/>
          <a:p>
            <a:pPr algn="ctr">
              <a:lnSpc>
                <a:spcPts val="10438"/>
              </a:lnSpc>
            </a:pPr>
            <a:r>
              <a:rPr lang="en-US" b="true" sz="7455">
                <a:solidFill>
                  <a:srgbClr val="545454"/>
                </a:solidFill>
                <a:latin typeface="Noto Serif Devanagari Bold"/>
                <a:ea typeface="Noto Serif Devanagari Bold"/>
                <a:cs typeface="Noto Serif Devanagari Bold"/>
                <a:sym typeface="Noto Serif Devanagari Bold"/>
              </a:rPr>
              <a:t>TESTING</a:t>
            </a:r>
          </a:p>
        </p:txBody>
      </p:sp>
      <p:sp>
        <p:nvSpPr>
          <p:cNvPr name="TextBox 13" id="13"/>
          <p:cNvSpPr txBox="true"/>
          <p:nvPr/>
        </p:nvSpPr>
        <p:spPr>
          <a:xfrm rot="0">
            <a:off x="1162822" y="3260865"/>
            <a:ext cx="15684818" cy="6374128"/>
          </a:xfrm>
          <a:prstGeom prst="rect">
            <a:avLst/>
          </a:prstGeom>
        </p:spPr>
        <p:txBody>
          <a:bodyPr anchor="t" rtlCol="false" tIns="0" lIns="0" bIns="0" rIns="0">
            <a:spAutoFit/>
          </a:bodyPr>
          <a:lstStyle/>
          <a:p>
            <a:pPr algn="just" marL="712483" indent="-356241" lvl="1">
              <a:lnSpc>
                <a:spcPts val="4620"/>
              </a:lnSpc>
              <a:buFont typeface="Arial"/>
              <a:buChar char="•"/>
            </a:pPr>
            <a:r>
              <a:rPr lang="en-US" sz="3300">
                <a:solidFill>
                  <a:srgbClr val="545454"/>
                </a:solidFill>
                <a:latin typeface="Gowun Batang"/>
                <a:ea typeface="Gowun Batang"/>
                <a:cs typeface="Gowun Batang"/>
                <a:sym typeface="Gowun Batang"/>
              </a:rPr>
              <a:t>Login Testing:</a:t>
            </a:r>
          </a:p>
          <a:p>
            <a:pPr algn="just" marL="1424966" indent="-474989" lvl="2">
              <a:lnSpc>
                <a:spcPts val="4620"/>
              </a:lnSpc>
              <a:buFont typeface="Arial"/>
              <a:buChar char="⚬"/>
            </a:pPr>
            <a:r>
              <a:rPr lang="en-US" sz="3300">
                <a:solidFill>
                  <a:srgbClr val="545454"/>
                </a:solidFill>
                <a:latin typeface="Gowun Batang"/>
                <a:ea typeface="Gowun Batang"/>
                <a:cs typeface="Gowun Batang"/>
                <a:sym typeface="Gowun Batang"/>
              </a:rPr>
              <a:t>Entered valid student, teacher and admin credentials and verified correct redirection to respective portals.</a:t>
            </a:r>
          </a:p>
          <a:p>
            <a:pPr algn="just" marL="1424966" indent="-474989" lvl="2">
              <a:lnSpc>
                <a:spcPts val="4620"/>
              </a:lnSpc>
              <a:buFont typeface="Arial"/>
              <a:buChar char="⚬"/>
            </a:pPr>
            <a:r>
              <a:rPr lang="en-US" sz="3300">
                <a:solidFill>
                  <a:srgbClr val="545454"/>
                </a:solidFill>
                <a:latin typeface="Gowun Batang"/>
                <a:ea typeface="Gowun Batang"/>
                <a:cs typeface="Gowun Batang"/>
                <a:sym typeface="Gowun Batang"/>
              </a:rPr>
              <a:t>Tested invalid email/password combinations and empty fields to ensure proper error messages and denied access.​</a:t>
            </a:r>
          </a:p>
          <a:p>
            <a:pPr algn="just" marL="712483" indent="-356241" lvl="1">
              <a:lnSpc>
                <a:spcPts val="4620"/>
              </a:lnSpc>
              <a:buFont typeface="Arial"/>
              <a:buChar char="•"/>
            </a:pPr>
            <a:r>
              <a:rPr lang="en-US" sz="3300">
                <a:solidFill>
                  <a:srgbClr val="545454"/>
                </a:solidFill>
                <a:latin typeface="Gowun Batang"/>
                <a:ea typeface="Gowun Batang"/>
                <a:cs typeface="Gowun Batang"/>
                <a:sym typeface="Gowun Batang"/>
              </a:rPr>
              <a:t>Add Certificate Testing:</a:t>
            </a:r>
          </a:p>
          <a:p>
            <a:pPr algn="just" marL="1424966" indent="-474989" lvl="2">
              <a:lnSpc>
                <a:spcPts val="4620"/>
              </a:lnSpc>
              <a:buFont typeface="Arial"/>
              <a:buChar char="⚬"/>
            </a:pPr>
            <a:r>
              <a:rPr lang="en-US" sz="3300">
                <a:solidFill>
                  <a:srgbClr val="545454"/>
                </a:solidFill>
                <a:latin typeface="Gowun Batang"/>
                <a:ea typeface="Gowun Batang"/>
                <a:cs typeface="Gowun Batang"/>
                <a:sym typeface="Gowun Batang"/>
              </a:rPr>
              <a:t>Clicked “Add Certificate”, entered name, organization and link, then checked that a new card appears in “My Certificates” and is stored in localStorage.</a:t>
            </a:r>
          </a:p>
          <a:p>
            <a:pPr algn="just" marL="1424966" indent="-474989" lvl="2">
              <a:lnSpc>
                <a:spcPts val="4620"/>
              </a:lnSpc>
              <a:buFont typeface="Arial"/>
              <a:buChar char="⚬"/>
            </a:pPr>
            <a:r>
              <a:rPr lang="en-US" sz="3300">
                <a:solidFill>
                  <a:srgbClr val="545454"/>
                </a:solidFill>
                <a:latin typeface="Gowun Batang"/>
                <a:ea typeface="Gowun Batang"/>
                <a:cs typeface="Gowun Batang"/>
                <a:sym typeface="Gowun Batang"/>
              </a:rPr>
              <a:t>Tried missing fields and repeated additions to confirm list updates correctly and delete buttons remove only the selected certificate.​</a:t>
            </a:r>
          </a:p>
          <a:p>
            <a:pPr algn="just">
              <a:lnSpc>
                <a:spcPts val="4620"/>
              </a:lnSpc>
            </a:pPr>
          </a:p>
        </p:txBody>
      </p:sp>
      <p:sp>
        <p:nvSpPr>
          <p:cNvPr name="TextBox 14" id="14"/>
          <p:cNvSpPr txBox="true"/>
          <p:nvPr/>
        </p:nvSpPr>
        <p:spPr>
          <a:xfrm rot="0">
            <a:off x="7632245" y="263942"/>
            <a:ext cx="5783255" cy="821908"/>
          </a:xfrm>
          <a:prstGeom prst="rect">
            <a:avLst/>
          </a:prstGeom>
        </p:spPr>
        <p:txBody>
          <a:bodyPr anchor="t" rtlCol="false" tIns="0" lIns="0" bIns="0" rIns="0">
            <a:spAutoFit/>
          </a:bodyPr>
          <a:lstStyle/>
          <a:p>
            <a:pPr algn="ctr">
              <a:lnSpc>
                <a:spcPts val="3262"/>
              </a:lnSpc>
            </a:pPr>
            <a:r>
              <a:rPr lang="en-US" sz="2861" i="true">
                <a:solidFill>
                  <a:srgbClr val="545454"/>
                </a:solidFill>
                <a:latin typeface="Nunito Sans Italics"/>
                <a:ea typeface="Nunito Sans Italics"/>
                <a:cs typeface="Nunito Sans Italics"/>
                <a:sym typeface="Nunito Sans Italics"/>
              </a:rPr>
              <a:t>Dayananda Sagar Academy of Technology and management</a:t>
            </a:r>
          </a:p>
        </p:txBody>
      </p:sp>
      <p:sp>
        <p:nvSpPr>
          <p:cNvPr name="Freeform 15" id="15"/>
          <p:cNvSpPr/>
          <p:nvPr/>
        </p:nvSpPr>
        <p:spPr>
          <a:xfrm flipH="false" flipV="false" rot="0">
            <a:off x="5474566" y="64604"/>
            <a:ext cx="1611108" cy="1611108"/>
          </a:xfrm>
          <a:custGeom>
            <a:avLst/>
            <a:gdLst/>
            <a:ahLst/>
            <a:cxnLst/>
            <a:rect r="r" b="b" t="t" l="l"/>
            <a:pathLst>
              <a:path h="1611108" w="1611108">
                <a:moveTo>
                  <a:pt x="0" y="0"/>
                </a:moveTo>
                <a:lnTo>
                  <a:pt x="1611108" y="0"/>
                </a:lnTo>
                <a:lnTo>
                  <a:pt x="1611108" y="1611109"/>
                </a:lnTo>
                <a:lnTo>
                  <a:pt x="0" y="1611109"/>
                </a:lnTo>
                <a:lnTo>
                  <a:pt x="0" y="0"/>
                </a:lnTo>
                <a:close/>
              </a:path>
            </a:pathLst>
          </a:custGeom>
          <a:blipFill>
            <a:blip r:embed="rId8"/>
            <a:stretch>
              <a:fillRect l="0" t="0" r="0" b="0"/>
            </a:stretch>
          </a:blipFill>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EEEFF4"/>
        </a:solidFill>
      </p:bgPr>
    </p:bg>
    <p:spTree>
      <p:nvGrpSpPr>
        <p:cNvPr id="1" name=""/>
        <p:cNvGrpSpPr/>
        <p:nvPr/>
      </p:nvGrpSpPr>
      <p:grpSpPr>
        <a:xfrm>
          <a:off x="0" y="0"/>
          <a:ext cx="0" cy="0"/>
          <a:chOff x="0" y="0"/>
          <a:chExt cx="0" cy="0"/>
        </a:xfrm>
      </p:grpSpPr>
      <p:sp>
        <p:nvSpPr>
          <p:cNvPr name="Freeform 2" id="2"/>
          <p:cNvSpPr/>
          <p:nvPr/>
        </p:nvSpPr>
        <p:spPr>
          <a:xfrm flipH="false" flipV="false" rot="0">
            <a:off x="0" y="64604"/>
            <a:ext cx="4149089" cy="2661592"/>
          </a:xfrm>
          <a:custGeom>
            <a:avLst/>
            <a:gdLst/>
            <a:ahLst/>
            <a:cxnLst/>
            <a:rect r="r" b="b" t="t" l="l"/>
            <a:pathLst>
              <a:path h="2661592" w="4149089">
                <a:moveTo>
                  <a:pt x="0" y="0"/>
                </a:moveTo>
                <a:lnTo>
                  <a:pt x="4149089" y="0"/>
                </a:lnTo>
                <a:lnTo>
                  <a:pt x="4149089" y="2661592"/>
                </a:lnTo>
                <a:lnTo>
                  <a:pt x="0" y="26615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4138911" y="7625408"/>
            <a:ext cx="4149089" cy="2661592"/>
          </a:xfrm>
          <a:custGeom>
            <a:avLst/>
            <a:gdLst/>
            <a:ahLst/>
            <a:cxnLst/>
            <a:rect r="r" b="b" t="t" l="l"/>
            <a:pathLst>
              <a:path h="2661592" w="4149089">
                <a:moveTo>
                  <a:pt x="4149089" y="2661592"/>
                </a:moveTo>
                <a:lnTo>
                  <a:pt x="0" y="2661592"/>
                </a:lnTo>
                <a:lnTo>
                  <a:pt x="0" y="0"/>
                </a:lnTo>
                <a:lnTo>
                  <a:pt x="4149089" y="0"/>
                </a:lnTo>
                <a:lnTo>
                  <a:pt x="4149089" y="2661592"/>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true" rot="0">
            <a:off x="0" y="7562170"/>
            <a:ext cx="4149089" cy="2661592"/>
          </a:xfrm>
          <a:custGeom>
            <a:avLst/>
            <a:gdLst/>
            <a:ahLst/>
            <a:cxnLst/>
            <a:rect r="r" b="b" t="t" l="l"/>
            <a:pathLst>
              <a:path h="2661592" w="4149089">
                <a:moveTo>
                  <a:pt x="0" y="2661591"/>
                </a:moveTo>
                <a:lnTo>
                  <a:pt x="4149089" y="2661591"/>
                </a:lnTo>
                <a:lnTo>
                  <a:pt x="4149089" y="0"/>
                </a:lnTo>
                <a:lnTo>
                  <a:pt x="0" y="0"/>
                </a:lnTo>
                <a:lnTo>
                  <a:pt x="0" y="2661591"/>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true" flipV="false" rot="0">
            <a:off x="13916387" y="154019"/>
            <a:ext cx="4149089" cy="2661592"/>
          </a:xfrm>
          <a:custGeom>
            <a:avLst/>
            <a:gdLst/>
            <a:ahLst/>
            <a:cxnLst/>
            <a:rect r="r" b="b" t="t" l="l"/>
            <a:pathLst>
              <a:path h="2661592" w="4149089">
                <a:moveTo>
                  <a:pt x="4149089" y="0"/>
                </a:moveTo>
                <a:lnTo>
                  <a:pt x="0" y="0"/>
                </a:lnTo>
                <a:lnTo>
                  <a:pt x="0" y="2661591"/>
                </a:lnTo>
                <a:lnTo>
                  <a:pt x="4149089" y="2661591"/>
                </a:lnTo>
                <a:lnTo>
                  <a:pt x="4149089"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3691695" y="4096430"/>
            <a:ext cx="4720395" cy="2094139"/>
          </a:xfrm>
          <a:custGeom>
            <a:avLst/>
            <a:gdLst/>
            <a:ahLst/>
            <a:cxnLst/>
            <a:rect r="r" b="b" t="t" l="l"/>
            <a:pathLst>
              <a:path h="2094139" w="4720395">
                <a:moveTo>
                  <a:pt x="0" y="0"/>
                </a:moveTo>
                <a:lnTo>
                  <a:pt x="4720395" y="0"/>
                </a:lnTo>
                <a:lnTo>
                  <a:pt x="4720395" y="2094140"/>
                </a:lnTo>
                <a:lnTo>
                  <a:pt x="0" y="209414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17259300" y="4096430"/>
            <a:ext cx="4720395" cy="2094139"/>
          </a:xfrm>
          <a:custGeom>
            <a:avLst/>
            <a:gdLst/>
            <a:ahLst/>
            <a:cxnLst/>
            <a:rect r="r" b="b" t="t" l="l"/>
            <a:pathLst>
              <a:path h="2094139" w="4720395">
                <a:moveTo>
                  <a:pt x="0" y="0"/>
                </a:moveTo>
                <a:lnTo>
                  <a:pt x="4720395" y="0"/>
                </a:lnTo>
                <a:lnTo>
                  <a:pt x="4720395" y="2094140"/>
                </a:lnTo>
                <a:lnTo>
                  <a:pt x="0" y="209414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528638" y="742786"/>
            <a:ext cx="1268369" cy="1484056"/>
          </a:xfrm>
          <a:custGeom>
            <a:avLst/>
            <a:gdLst/>
            <a:ahLst/>
            <a:cxnLst/>
            <a:rect r="r" b="b" t="t" l="l"/>
            <a:pathLst>
              <a:path h="1484056" w="1268369">
                <a:moveTo>
                  <a:pt x="0" y="0"/>
                </a:moveTo>
                <a:lnTo>
                  <a:pt x="1268368" y="0"/>
                </a:lnTo>
                <a:lnTo>
                  <a:pt x="1268368" y="1484056"/>
                </a:lnTo>
                <a:lnTo>
                  <a:pt x="0" y="148405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true" rot="0">
            <a:off x="528637" y="8150937"/>
            <a:ext cx="1268369" cy="1484056"/>
          </a:xfrm>
          <a:custGeom>
            <a:avLst/>
            <a:gdLst/>
            <a:ahLst/>
            <a:cxnLst/>
            <a:rect r="r" b="b" t="t" l="l"/>
            <a:pathLst>
              <a:path h="1484056" w="1268369">
                <a:moveTo>
                  <a:pt x="0" y="1484056"/>
                </a:moveTo>
                <a:lnTo>
                  <a:pt x="1268369" y="1484056"/>
                </a:lnTo>
                <a:lnTo>
                  <a:pt x="1268369" y="0"/>
                </a:lnTo>
                <a:lnTo>
                  <a:pt x="0" y="0"/>
                </a:lnTo>
                <a:lnTo>
                  <a:pt x="0" y="1484056"/>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0" id="10"/>
          <p:cNvSpPr/>
          <p:nvPr/>
        </p:nvSpPr>
        <p:spPr>
          <a:xfrm flipH="true" flipV="false" rot="0">
            <a:off x="16213455" y="742786"/>
            <a:ext cx="1268369" cy="1484056"/>
          </a:xfrm>
          <a:custGeom>
            <a:avLst/>
            <a:gdLst/>
            <a:ahLst/>
            <a:cxnLst/>
            <a:rect r="r" b="b" t="t" l="l"/>
            <a:pathLst>
              <a:path h="1484056" w="1268369">
                <a:moveTo>
                  <a:pt x="1268369" y="0"/>
                </a:moveTo>
                <a:lnTo>
                  <a:pt x="0" y="0"/>
                </a:lnTo>
                <a:lnTo>
                  <a:pt x="0" y="1484056"/>
                </a:lnTo>
                <a:lnTo>
                  <a:pt x="1268369" y="1484056"/>
                </a:lnTo>
                <a:lnTo>
                  <a:pt x="1268369"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1" id="11"/>
          <p:cNvSpPr/>
          <p:nvPr/>
        </p:nvSpPr>
        <p:spPr>
          <a:xfrm flipH="true" flipV="true" rot="0">
            <a:off x="16490994" y="8150937"/>
            <a:ext cx="1268369" cy="1484056"/>
          </a:xfrm>
          <a:custGeom>
            <a:avLst/>
            <a:gdLst/>
            <a:ahLst/>
            <a:cxnLst/>
            <a:rect r="r" b="b" t="t" l="l"/>
            <a:pathLst>
              <a:path h="1484056" w="1268369">
                <a:moveTo>
                  <a:pt x="1268368" y="1484056"/>
                </a:moveTo>
                <a:lnTo>
                  <a:pt x="0" y="1484056"/>
                </a:lnTo>
                <a:lnTo>
                  <a:pt x="0" y="0"/>
                </a:lnTo>
                <a:lnTo>
                  <a:pt x="1268368" y="0"/>
                </a:lnTo>
                <a:lnTo>
                  <a:pt x="1268368" y="1484056"/>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2" id="12"/>
          <p:cNvSpPr txBox="true"/>
          <p:nvPr/>
        </p:nvSpPr>
        <p:spPr>
          <a:xfrm rot="0">
            <a:off x="1028700" y="1602241"/>
            <a:ext cx="15957235" cy="7353963"/>
          </a:xfrm>
          <a:prstGeom prst="rect">
            <a:avLst/>
          </a:prstGeom>
        </p:spPr>
        <p:txBody>
          <a:bodyPr anchor="t" rtlCol="false" tIns="0" lIns="0" bIns="0" rIns="0">
            <a:spAutoFit/>
          </a:bodyPr>
          <a:lstStyle/>
          <a:p>
            <a:pPr algn="just">
              <a:lnSpc>
                <a:spcPts val="4513"/>
              </a:lnSpc>
            </a:pPr>
          </a:p>
          <a:p>
            <a:pPr algn="just" marL="696011" indent="-348005" lvl="1">
              <a:lnSpc>
                <a:spcPts val="4513"/>
              </a:lnSpc>
              <a:buFont typeface="Arial"/>
              <a:buChar char="•"/>
            </a:pPr>
            <a:r>
              <a:rPr lang="en-US" sz="3223">
                <a:solidFill>
                  <a:srgbClr val="545454"/>
                </a:solidFill>
                <a:latin typeface="Gowun Batang"/>
                <a:ea typeface="Gowun Batang"/>
                <a:cs typeface="Gowun Batang"/>
                <a:sym typeface="Gowun Batang"/>
              </a:rPr>
              <a:t>Apply Leave Testing:</a:t>
            </a:r>
          </a:p>
          <a:p>
            <a:pPr algn="just" marL="1392022" indent="-464007" lvl="2">
              <a:lnSpc>
                <a:spcPts val="4513"/>
              </a:lnSpc>
              <a:buFont typeface="Arial"/>
              <a:buChar char="⚬"/>
            </a:pPr>
            <a:r>
              <a:rPr lang="en-US" sz="3223">
                <a:solidFill>
                  <a:srgbClr val="545454"/>
                </a:solidFill>
                <a:latin typeface="Gowun Batang"/>
                <a:ea typeface="Gowun Batang"/>
                <a:cs typeface="Gowun Batang"/>
                <a:sym typeface="Gowun Batang"/>
              </a:rPr>
              <a:t>Opened “My Requests”, created a new leave request with event name, type and date range, and verified it appears in the student list and in the global teacher request list.</a:t>
            </a:r>
          </a:p>
          <a:p>
            <a:pPr algn="just" marL="1392022" indent="-464007" lvl="2">
              <a:lnSpc>
                <a:spcPts val="4513"/>
              </a:lnSpc>
              <a:buFont typeface="Arial"/>
              <a:buChar char="⚬"/>
            </a:pPr>
            <a:r>
              <a:rPr lang="en-US" sz="3223">
                <a:solidFill>
                  <a:srgbClr val="545454"/>
                </a:solidFill>
                <a:latin typeface="Gowun Batang"/>
                <a:ea typeface="Gowun Batang"/>
                <a:cs typeface="Gowun Batang"/>
                <a:sym typeface="Gowun Batang"/>
              </a:rPr>
              <a:t>Left required fields empty and checked that the system shows alerts and does not create a request.​</a:t>
            </a:r>
          </a:p>
          <a:p>
            <a:pPr algn="just" marL="696011" indent="-348005" lvl="1">
              <a:lnSpc>
                <a:spcPts val="4513"/>
              </a:lnSpc>
              <a:buFont typeface="Arial"/>
              <a:buChar char="•"/>
            </a:pPr>
            <a:r>
              <a:rPr lang="en-US" sz="3223">
                <a:solidFill>
                  <a:srgbClr val="545454"/>
                </a:solidFill>
                <a:latin typeface="Gowun Batang"/>
                <a:ea typeface="Gowun Batang"/>
                <a:cs typeface="Gowun Batang"/>
                <a:sym typeface="Gowun Batang"/>
              </a:rPr>
              <a:t>Generate Resume Testing:</a:t>
            </a:r>
          </a:p>
          <a:p>
            <a:pPr algn="just" marL="1392022" indent="-464007" lvl="2">
              <a:lnSpc>
                <a:spcPts val="4513"/>
              </a:lnSpc>
              <a:buFont typeface="Arial"/>
              <a:buChar char="⚬"/>
            </a:pPr>
            <a:r>
              <a:rPr lang="en-US" sz="3223">
                <a:solidFill>
                  <a:srgbClr val="545454"/>
                </a:solidFill>
                <a:latin typeface="Gowun Batang"/>
                <a:ea typeface="Gowun Batang"/>
                <a:cs typeface="Gowun Batang"/>
                <a:sym typeface="Gowun Batang"/>
              </a:rPr>
              <a:t>Filled profile and resume form fields, clicked “Generate Resume” and verified the preview shows correct name, contact, education, skills, projects and summary.</a:t>
            </a:r>
          </a:p>
          <a:p>
            <a:pPr algn="just" marL="1392022" indent="-464007" lvl="2">
              <a:lnSpc>
                <a:spcPts val="4513"/>
              </a:lnSpc>
              <a:buFont typeface="Arial"/>
              <a:buChar char="⚬"/>
            </a:pPr>
            <a:r>
              <a:rPr lang="en-US" sz="3223">
                <a:solidFill>
                  <a:srgbClr val="545454"/>
                </a:solidFill>
                <a:latin typeface="Gowun Batang"/>
                <a:ea typeface="Gowun Batang"/>
                <a:cs typeface="Gowun Batang"/>
                <a:sym typeface="Gowun Batang"/>
              </a:rPr>
              <a:t>Tested “Copy to Clipboard” and “Download as .txt” to ensure the same content is copied/downloaded without truncation or formatting issues.​</a:t>
            </a:r>
          </a:p>
          <a:p>
            <a:pPr algn="just">
              <a:lnSpc>
                <a:spcPts val="4513"/>
              </a:lnSpc>
            </a:pPr>
          </a:p>
        </p:txBody>
      </p:sp>
      <p:sp>
        <p:nvSpPr>
          <p:cNvPr name="TextBox 13" id="13"/>
          <p:cNvSpPr txBox="true"/>
          <p:nvPr/>
        </p:nvSpPr>
        <p:spPr>
          <a:xfrm rot="0">
            <a:off x="7632245" y="263942"/>
            <a:ext cx="5783255" cy="821908"/>
          </a:xfrm>
          <a:prstGeom prst="rect">
            <a:avLst/>
          </a:prstGeom>
        </p:spPr>
        <p:txBody>
          <a:bodyPr anchor="t" rtlCol="false" tIns="0" lIns="0" bIns="0" rIns="0">
            <a:spAutoFit/>
          </a:bodyPr>
          <a:lstStyle/>
          <a:p>
            <a:pPr algn="ctr">
              <a:lnSpc>
                <a:spcPts val="3262"/>
              </a:lnSpc>
            </a:pPr>
            <a:r>
              <a:rPr lang="en-US" sz="2861" i="true">
                <a:solidFill>
                  <a:srgbClr val="545454"/>
                </a:solidFill>
                <a:latin typeface="Nunito Sans Italics"/>
                <a:ea typeface="Nunito Sans Italics"/>
                <a:cs typeface="Nunito Sans Italics"/>
                <a:sym typeface="Nunito Sans Italics"/>
              </a:rPr>
              <a:t>Dayananda Sagar Academy of Technology and management</a:t>
            </a:r>
          </a:p>
        </p:txBody>
      </p:sp>
      <p:sp>
        <p:nvSpPr>
          <p:cNvPr name="Freeform 14" id="14"/>
          <p:cNvSpPr/>
          <p:nvPr/>
        </p:nvSpPr>
        <p:spPr>
          <a:xfrm flipH="false" flipV="false" rot="0">
            <a:off x="5516312" y="154019"/>
            <a:ext cx="1611108" cy="1611108"/>
          </a:xfrm>
          <a:custGeom>
            <a:avLst/>
            <a:gdLst/>
            <a:ahLst/>
            <a:cxnLst/>
            <a:rect r="r" b="b" t="t" l="l"/>
            <a:pathLst>
              <a:path h="1611108" w="1611108">
                <a:moveTo>
                  <a:pt x="0" y="0"/>
                </a:moveTo>
                <a:lnTo>
                  <a:pt x="1611108" y="0"/>
                </a:lnTo>
                <a:lnTo>
                  <a:pt x="1611108" y="1611108"/>
                </a:lnTo>
                <a:lnTo>
                  <a:pt x="0" y="1611108"/>
                </a:lnTo>
                <a:lnTo>
                  <a:pt x="0" y="0"/>
                </a:lnTo>
                <a:close/>
              </a:path>
            </a:pathLst>
          </a:custGeom>
          <a:blipFill>
            <a:blip r:embed="rId8"/>
            <a:stretch>
              <a:fillRect l="0" t="0" r="0" b="0"/>
            </a:stretch>
          </a:blipFill>
        </p:spPr>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EEEFF4"/>
        </a:solidFill>
      </p:bgPr>
    </p:bg>
    <p:spTree>
      <p:nvGrpSpPr>
        <p:cNvPr id="1" name=""/>
        <p:cNvGrpSpPr/>
        <p:nvPr/>
      </p:nvGrpSpPr>
      <p:grpSpPr>
        <a:xfrm>
          <a:off x="0" y="0"/>
          <a:ext cx="0" cy="0"/>
          <a:chOff x="0" y="0"/>
          <a:chExt cx="0" cy="0"/>
        </a:xfrm>
      </p:grpSpPr>
      <p:sp>
        <p:nvSpPr>
          <p:cNvPr name="Freeform 2" id="2"/>
          <p:cNvSpPr/>
          <p:nvPr/>
        </p:nvSpPr>
        <p:spPr>
          <a:xfrm flipH="false" flipV="false" rot="0">
            <a:off x="0" y="64604"/>
            <a:ext cx="4149089" cy="2661592"/>
          </a:xfrm>
          <a:custGeom>
            <a:avLst/>
            <a:gdLst/>
            <a:ahLst/>
            <a:cxnLst/>
            <a:rect r="r" b="b" t="t" l="l"/>
            <a:pathLst>
              <a:path h="2661592" w="4149089">
                <a:moveTo>
                  <a:pt x="0" y="0"/>
                </a:moveTo>
                <a:lnTo>
                  <a:pt x="4149089" y="0"/>
                </a:lnTo>
                <a:lnTo>
                  <a:pt x="4149089" y="2661592"/>
                </a:lnTo>
                <a:lnTo>
                  <a:pt x="0" y="26615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4138911" y="7562170"/>
            <a:ext cx="4149089" cy="2661592"/>
          </a:xfrm>
          <a:custGeom>
            <a:avLst/>
            <a:gdLst/>
            <a:ahLst/>
            <a:cxnLst/>
            <a:rect r="r" b="b" t="t" l="l"/>
            <a:pathLst>
              <a:path h="2661592" w="4149089">
                <a:moveTo>
                  <a:pt x="4149089" y="2661591"/>
                </a:moveTo>
                <a:lnTo>
                  <a:pt x="0" y="2661591"/>
                </a:lnTo>
                <a:lnTo>
                  <a:pt x="0" y="0"/>
                </a:lnTo>
                <a:lnTo>
                  <a:pt x="4149089" y="0"/>
                </a:lnTo>
                <a:lnTo>
                  <a:pt x="4149089" y="2661591"/>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true" rot="0">
            <a:off x="0" y="7562170"/>
            <a:ext cx="4149089" cy="2661592"/>
          </a:xfrm>
          <a:custGeom>
            <a:avLst/>
            <a:gdLst/>
            <a:ahLst/>
            <a:cxnLst/>
            <a:rect r="r" b="b" t="t" l="l"/>
            <a:pathLst>
              <a:path h="2661592" w="4149089">
                <a:moveTo>
                  <a:pt x="0" y="2661591"/>
                </a:moveTo>
                <a:lnTo>
                  <a:pt x="4149089" y="2661591"/>
                </a:lnTo>
                <a:lnTo>
                  <a:pt x="4149089" y="0"/>
                </a:lnTo>
                <a:lnTo>
                  <a:pt x="0" y="0"/>
                </a:lnTo>
                <a:lnTo>
                  <a:pt x="0" y="2661591"/>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true" flipV="false" rot="0">
            <a:off x="13916387" y="0"/>
            <a:ext cx="4149089" cy="2661592"/>
          </a:xfrm>
          <a:custGeom>
            <a:avLst/>
            <a:gdLst/>
            <a:ahLst/>
            <a:cxnLst/>
            <a:rect r="r" b="b" t="t" l="l"/>
            <a:pathLst>
              <a:path h="2661592" w="4149089">
                <a:moveTo>
                  <a:pt x="4149089" y="0"/>
                </a:moveTo>
                <a:lnTo>
                  <a:pt x="0" y="0"/>
                </a:lnTo>
                <a:lnTo>
                  <a:pt x="0" y="2661592"/>
                </a:lnTo>
                <a:lnTo>
                  <a:pt x="4149089" y="2661592"/>
                </a:lnTo>
                <a:lnTo>
                  <a:pt x="4149089"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3691695" y="4096430"/>
            <a:ext cx="4720395" cy="2094139"/>
          </a:xfrm>
          <a:custGeom>
            <a:avLst/>
            <a:gdLst/>
            <a:ahLst/>
            <a:cxnLst/>
            <a:rect r="r" b="b" t="t" l="l"/>
            <a:pathLst>
              <a:path h="2094139" w="4720395">
                <a:moveTo>
                  <a:pt x="0" y="0"/>
                </a:moveTo>
                <a:lnTo>
                  <a:pt x="4720395" y="0"/>
                </a:lnTo>
                <a:lnTo>
                  <a:pt x="4720395" y="2094140"/>
                </a:lnTo>
                <a:lnTo>
                  <a:pt x="0" y="209414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17259300" y="4096430"/>
            <a:ext cx="4720395" cy="2094139"/>
          </a:xfrm>
          <a:custGeom>
            <a:avLst/>
            <a:gdLst/>
            <a:ahLst/>
            <a:cxnLst/>
            <a:rect r="r" b="b" t="t" l="l"/>
            <a:pathLst>
              <a:path h="2094139" w="4720395">
                <a:moveTo>
                  <a:pt x="0" y="0"/>
                </a:moveTo>
                <a:lnTo>
                  <a:pt x="4720395" y="0"/>
                </a:lnTo>
                <a:lnTo>
                  <a:pt x="4720395" y="2094140"/>
                </a:lnTo>
                <a:lnTo>
                  <a:pt x="0" y="209414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537975" y="742786"/>
            <a:ext cx="1268369" cy="1484056"/>
          </a:xfrm>
          <a:custGeom>
            <a:avLst/>
            <a:gdLst/>
            <a:ahLst/>
            <a:cxnLst/>
            <a:rect r="r" b="b" t="t" l="l"/>
            <a:pathLst>
              <a:path h="1484056" w="1268369">
                <a:moveTo>
                  <a:pt x="0" y="0"/>
                </a:moveTo>
                <a:lnTo>
                  <a:pt x="1268369" y="0"/>
                </a:lnTo>
                <a:lnTo>
                  <a:pt x="1268369" y="1484056"/>
                </a:lnTo>
                <a:lnTo>
                  <a:pt x="0" y="148405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true" rot="0">
            <a:off x="537975" y="8238588"/>
            <a:ext cx="1268369" cy="1484056"/>
          </a:xfrm>
          <a:custGeom>
            <a:avLst/>
            <a:gdLst/>
            <a:ahLst/>
            <a:cxnLst/>
            <a:rect r="r" b="b" t="t" l="l"/>
            <a:pathLst>
              <a:path h="1484056" w="1268369">
                <a:moveTo>
                  <a:pt x="0" y="1484056"/>
                </a:moveTo>
                <a:lnTo>
                  <a:pt x="1268369" y="1484056"/>
                </a:lnTo>
                <a:lnTo>
                  <a:pt x="1268369" y="0"/>
                </a:lnTo>
                <a:lnTo>
                  <a:pt x="0" y="0"/>
                </a:lnTo>
                <a:lnTo>
                  <a:pt x="0" y="1484056"/>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0" id="10"/>
          <p:cNvSpPr/>
          <p:nvPr/>
        </p:nvSpPr>
        <p:spPr>
          <a:xfrm flipH="true" flipV="false" rot="0">
            <a:off x="16213455" y="588768"/>
            <a:ext cx="1268369" cy="1484056"/>
          </a:xfrm>
          <a:custGeom>
            <a:avLst/>
            <a:gdLst/>
            <a:ahLst/>
            <a:cxnLst/>
            <a:rect r="r" b="b" t="t" l="l"/>
            <a:pathLst>
              <a:path h="1484056" w="1268369">
                <a:moveTo>
                  <a:pt x="1268369" y="0"/>
                </a:moveTo>
                <a:lnTo>
                  <a:pt x="0" y="0"/>
                </a:lnTo>
                <a:lnTo>
                  <a:pt x="0" y="1484056"/>
                </a:lnTo>
                <a:lnTo>
                  <a:pt x="1268369" y="1484056"/>
                </a:lnTo>
                <a:lnTo>
                  <a:pt x="1268369"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1" id="11"/>
          <p:cNvSpPr/>
          <p:nvPr/>
        </p:nvSpPr>
        <p:spPr>
          <a:xfrm flipH="true" flipV="true" rot="0">
            <a:off x="16445715" y="8150937"/>
            <a:ext cx="1268369" cy="1484056"/>
          </a:xfrm>
          <a:custGeom>
            <a:avLst/>
            <a:gdLst/>
            <a:ahLst/>
            <a:cxnLst/>
            <a:rect r="r" b="b" t="t" l="l"/>
            <a:pathLst>
              <a:path h="1484056" w="1268369">
                <a:moveTo>
                  <a:pt x="1268368" y="1484056"/>
                </a:moveTo>
                <a:lnTo>
                  <a:pt x="0" y="1484056"/>
                </a:lnTo>
                <a:lnTo>
                  <a:pt x="0" y="0"/>
                </a:lnTo>
                <a:lnTo>
                  <a:pt x="1268368" y="0"/>
                </a:lnTo>
                <a:lnTo>
                  <a:pt x="1268368" y="1484056"/>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2" id="12"/>
          <p:cNvSpPr txBox="true"/>
          <p:nvPr/>
        </p:nvSpPr>
        <p:spPr>
          <a:xfrm rot="0">
            <a:off x="3416066" y="1863832"/>
            <a:ext cx="8890599" cy="1277474"/>
          </a:xfrm>
          <a:prstGeom prst="rect">
            <a:avLst/>
          </a:prstGeom>
        </p:spPr>
        <p:txBody>
          <a:bodyPr anchor="t" rtlCol="false" tIns="0" lIns="0" bIns="0" rIns="0">
            <a:spAutoFit/>
          </a:bodyPr>
          <a:lstStyle/>
          <a:p>
            <a:pPr algn="ctr">
              <a:lnSpc>
                <a:spcPts val="10438"/>
              </a:lnSpc>
            </a:pPr>
            <a:r>
              <a:rPr lang="en-US" b="true" sz="7455">
                <a:solidFill>
                  <a:srgbClr val="545454"/>
                </a:solidFill>
                <a:latin typeface="Noto Serif Devanagari Bold"/>
                <a:ea typeface="Noto Serif Devanagari Bold"/>
                <a:cs typeface="Noto Serif Devanagari Bold"/>
                <a:sym typeface="Noto Serif Devanagari Bold"/>
              </a:rPr>
              <a:t>CONCLUSION</a:t>
            </a:r>
          </a:p>
        </p:txBody>
      </p:sp>
      <p:sp>
        <p:nvSpPr>
          <p:cNvPr name="TextBox 13" id="13"/>
          <p:cNvSpPr txBox="true"/>
          <p:nvPr/>
        </p:nvSpPr>
        <p:spPr>
          <a:xfrm rot="0">
            <a:off x="2074545" y="2872024"/>
            <a:ext cx="14407111" cy="6579942"/>
          </a:xfrm>
          <a:prstGeom prst="rect">
            <a:avLst/>
          </a:prstGeom>
        </p:spPr>
        <p:txBody>
          <a:bodyPr anchor="t" rtlCol="false" tIns="0" lIns="0" bIns="0" rIns="0">
            <a:spAutoFit/>
          </a:bodyPr>
          <a:lstStyle/>
          <a:p>
            <a:pPr algn="just">
              <a:lnSpc>
                <a:spcPts val="4374"/>
              </a:lnSpc>
            </a:pPr>
            <a:r>
              <a:rPr lang="en-US" sz="3124">
                <a:solidFill>
                  <a:srgbClr val="545454"/>
                </a:solidFill>
                <a:latin typeface="Gowun Batang"/>
                <a:ea typeface="Gowun Batang"/>
                <a:cs typeface="Gowun Batang"/>
                <a:sym typeface="Gowun Batang"/>
              </a:rPr>
              <a:t>CerTrack is more than just a web application it's a bridge connecting what students achieve with what the world needs to see.</a:t>
            </a:r>
          </a:p>
          <a:p>
            <a:pPr algn="just">
              <a:lnSpc>
                <a:spcPts val="4374"/>
              </a:lnSpc>
            </a:pPr>
            <a:r>
              <a:rPr lang="en-US" sz="3124">
                <a:solidFill>
                  <a:srgbClr val="545454"/>
                </a:solidFill>
                <a:latin typeface="Gowun Batang"/>
                <a:ea typeface="Gowun Batang"/>
                <a:cs typeface="Gowun Batang"/>
                <a:sym typeface="Gowun Batang"/>
              </a:rPr>
              <a:t>Every student knows the struggle: certificates scattered across emails, folders, and forgotten downloads. Teachers drowning in paper based leave approvals. Resumes built piece by piece, losing critical information along the way. And institutions left wondering about the real capabilities of their students.</a:t>
            </a:r>
          </a:p>
          <a:p>
            <a:pPr algn="just">
              <a:lnSpc>
                <a:spcPts val="4374"/>
              </a:lnSpc>
            </a:pPr>
            <a:r>
              <a:rPr lang="en-US" sz="3124">
                <a:solidFill>
                  <a:srgbClr val="545454"/>
                </a:solidFill>
                <a:latin typeface="Gowun Batang"/>
                <a:ea typeface="Gowun Batang"/>
                <a:cs typeface="Gowun Batang"/>
                <a:sym typeface="Gowun Batang"/>
              </a:rPr>
              <a:t>CerTrack changes this story.</a:t>
            </a:r>
          </a:p>
          <a:p>
            <a:pPr algn="just">
              <a:lnSpc>
                <a:spcPts val="4374"/>
              </a:lnSpc>
            </a:pPr>
            <a:r>
              <a:rPr lang="en-US" sz="3124">
                <a:solidFill>
                  <a:srgbClr val="545454"/>
                </a:solidFill>
                <a:latin typeface="Gowun Batang"/>
                <a:ea typeface="Gowun Batang"/>
                <a:cs typeface="Gowun Batang"/>
                <a:sym typeface="Gowun Batang"/>
              </a:rPr>
              <a:t>By bringing everything into one seamless platform, we're not just organizing data we're empowering students to own their journey. We're giving teachers back their time to focus on what matters: mentoring and teaching. We're helping institutions make smarter decisions based on real, verified student achievements.</a:t>
            </a:r>
          </a:p>
          <a:p>
            <a:pPr algn="just">
              <a:lnSpc>
                <a:spcPts val="4374"/>
              </a:lnSpc>
            </a:pPr>
          </a:p>
        </p:txBody>
      </p:sp>
      <p:sp>
        <p:nvSpPr>
          <p:cNvPr name="TextBox 14" id="14"/>
          <p:cNvSpPr txBox="true"/>
          <p:nvPr/>
        </p:nvSpPr>
        <p:spPr>
          <a:xfrm rot="0">
            <a:off x="7895987" y="253331"/>
            <a:ext cx="5693313" cy="821908"/>
          </a:xfrm>
          <a:prstGeom prst="rect">
            <a:avLst/>
          </a:prstGeom>
        </p:spPr>
        <p:txBody>
          <a:bodyPr anchor="t" rtlCol="false" tIns="0" lIns="0" bIns="0" rIns="0">
            <a:spAutoFit/>
          </a:bodyPr>
          <a:lstStyle/>
          <a:p>
            <a:pPr algn="ctr">
              <a:lnSpc>
                <a:spcPts val="3262"/>
              </a:lnSpc>
            </a:pPr>
            <a:r>
              <a:rPr lang="en-US" sz="2861" i="true">
                <a:solidFill>
                  <a:srgbClr val="545454"/>
                </a:solidFill>
                <a:latin typeface="Nunito Sans Italics"/>
                <a:ea typeface="Nunito Sans Italics"/>
                <a:cs typeface="Nunito Sans Italics"/>
                <a:sym typeface="Nunito Sans Italics"/>
              </a:rPr>
              <a:t>Dayananda Sagar Academy of Technology and management</a:t>
            </a:r>
          </a:p>
        </p:txBody>
      </p:sp>
      <p:sp>
        <p:nvSpPr>
          <p:cNvPr name="Freeform 15" id="15"/>
          <p:cNvSpPr/>
          <p:nvPr/>
        </p:nvSpPr>
        <p:spPr>
          <a:xfrm flipH="false" flipV="false" rot="0">
            <a:off x="5961028" y="0"/>
            <a:ext cx="1611108" cy="1611108"/>
          </a:xfrm>
          <a:custGeom>
            <a:avLst/>
            <a:gdLst/>
            <a:ahLst/>
            <a:cxnLst/>
            <a:rect r="r" b="b" t="t" l="l"/>
            <a:pathLst>
              <a:path h="1611108" w="1611108">
                <a:moveTo>
                  <a:pt x="0" y="0"/>
                </a:moveTo>
                <a:lnTo>
                  <a:pt x="1611109" y="0"/>
                </a:lnTo>
                <a:lnTo>
                  <a:pt x="1611109" y="1611108"/>
                </a:lnTo>
                <a:lnTo>
                  <a:pt x="0" y="1611108"/>
                </a:lnTo>
                <a:lnTo>
                  <a:pt x="0" y="0"/>
                </a:lnTo>
                <a:close/>
              </a:path>
            </a:pathLst>
          </a:custGeom>
          <a:blipFill>
            <a:blip r:embed="rId8"/>
            <a:stretch>
              <a:fillRect l="0" t="0" r="0" b="0"/>
            </a:stretch>
          </a:blipFill>
        </p:spPr>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EEEFF4"/>
        </a:solidFill>
      </p:bgPr>
    </p:bg>
    <p:spTree>
      <p:nvGrpSpPr>
        <p:cNvPr id="1" name=""/>
        <p:cNvGrpSpPr/>
        <p:nvPr/>
      </p:nvGrpSpPr>
      <p:grpSpPr>
        <a:xfrm>
          <a:off x="0" y="0"/>
          <a:ext cx="0" cy="0"/>
          <a:chOff x="0" y="0"/>
          <a:chExt cx="0" cy="0"/>
        </a:xfrm>
      </p:grpSpPr>
      <p:sp>
        <p:nvSpPr>
          <p:cNvPr name="Freeform 2" id="2"/>
          <p:cNvSpPr/>
          <p:nvPr/>
        </p:nvSpPr>
        <p:spPr>
          <a:xfrm flipH="false" flipV="false" rot="0">
            <a:off x="0" y="64604"/>
            <a:ext cx="4149089" cy="2661592"/>
          </a:xfrm>
          <a:custGeom>
            <a:avLst/>
            <a:gdLst/>
            <a:ahLst/>
            <a:cxnLst/>
            <a:rect r="r" b="b" t="t" l="l"/>
            <a:pathLst>
              <a:path h="2661592" w="4149089">
                <a:moveTo>
                  <a:pt x="0" y="0"/>
                </a:moveTo>
                <a:lnTo>
                  <a:pt x="4149089" y="0"/>
                </a:lnTo>
                <a:lnTo>
                  <a:pt x="4149089" y="2661592"/>
                </a:lnTo>
                <a:lnTo>
                  <a:pt x="0" y="26615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4138911" y="7562170"/>
            <a:ext cx="4149089" cy="2661592"/>
          </a:xfrm>
          <a:custGeom>
            <a:avLst/>
            <a:gdLst/>
            <a:ahLst/>
            <a:cxnLst/>
            <a:rect r="r" b="b" t="t" l="l"/>
            <a:pathLst>
              <a:path h="2661592" w="4149089">
                <a:moveTo>
                  <a:pt x="4149089" y="2661591"/>
                </a:moveTo>
                <a:lnTo>
                  <a:pt x="0" y="2661591"/>
                </a:lnTo>
                <a:lnTo>
                  <a:pt x="0" y="0"/>
                </a:lnTo>
                <a:lnTo>
                  <a:pt x="4149089" y="0"/>
                </a:lnTo>
                <a:lnTo>
                  <a:pt x="4149089" y="2661591"/>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true" rot="0">
            <a:off x="0" y="7562170"/>
            <a:ext cx="4149089" cy="2661592"/>
          </a:xfrm>
          <a:custGeom>
            <a:avLst/>
            <a:gdLst/>
            <a:ahLst/>
            <a:cxnLst/>
            <a:rect r="r" b="b" t="t" l="l"/>
            <a:pathLst>
              <a:path h="2661592" w="4149089">
                <a:moveTo>
                  <a:pt x="0" y="2661591"/>
                </a:moveTo>
                <a:lnTo>
                  <a:pt x="4149089" y="2661591"/>
                </a:lnTo>
                <a:lnTo>
                  <a:pt x="4149089" y="0"/>
                </a:lnTo>
                <a:lnTo>
                  <a:pt x="0" y="0"/>
                </a:lnTo>
                <a:lnTo>
                  <a:pt x="0" y="2661591"/>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true" flipV="false" rot="0">
            <a:off x="13916387" y="0"/>
            <a:ext cx="4149089" cy="2661592"/>
          </a:xfrm>
          <a:custGeom>
            <a:avLst/>
            <a:gdLst/>
            <a:ahLst/>
            <a:cxnLst/>
            <a:rect r="r" b="b" t="t" l="l"/>
            <a:pathLst>
              <a:path h="2661592" w="4149089">
                <a:moveTo>
                  <a:pt x="4149089" y="0"/>
                </a:moveTo>
                <a:lnTo>
                  <a:pt x="0" y="0"/>
                </a:lnTo>
                <a:lnTo>
                  <a:pt x="0" y="2661592"/>
                </a:lnTo>
                <a:lnTo>
                  <a:pt x="4149089" y="2661592"/>
                </a:lnTo>
                <a:lnTo>
                  <a:pt x="4149089"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3691695" y="4096430"/>
            <a:ext cx="4720395" cy="2094139"/>
          </a:xfrm>
          <a:custGeom>
            <a:avLst/>
            <a:gdLst/>
            <a:ahLst/>
            <a:cxnLst/>
            <a:rect r="r" b="b" t="t" l="l"/>
            <a:pathLst>
              <a:path h="2094139" w="4720395">
                <a:moveTo>
                  <a:pt x="0" y="0"/>
                </a:moveTo>
                <a:lnTo>
                  <a:pt x="4720395" y="0"/>
                </a:lnTo>
                <a:lnTo>
                  <a:pt x="4720395" y="2094140"/>
                </a:lnTo>
                <a:lnTo>
                  <a:pt x="0" y="209414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17259300" y="4096430"/>
            <a:ext cx="4720395" cy="2094139"/>
          </a:xfrm>
          <a:custGeom>
            <a:avLst/>
            <a:gdLst/>
            <a:ahLst/>
            <a:cxnLst/>
            <a:rect r="r" b="b" t="t" l="l"/>
            <a:pathLst>
              <a:path h="2094139" w="4720395">
                <a:moveTo>
                  <a:pt x="0" y="0"/>
                </a:moveTo>
                <a:lnTo>
                  <a:pt x="4720395" y="0"/>
                </a:lnTo>
                <a:lnTo>
                  <a:pt x="4720395" y="2094140"/>
                </a:lnTo>
                <a:lnTo>
                  <a:pt x="0" y="209414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537975" y="742786"/>
            <a:ext cx="1268369" cy="1484056"/>
          </a:xfrm>
          <a:custGeom>
            <a:avLst/>
            <a:gdLst/>
            <a:ahLst/>
            <a:cxnLst/>
            <a:rect r="r" b="b" t="t" l="l"/>
            <a:pathLst>
              <a:path h="1484056" w="1268369">
                <a:moveTo>
                  <a:pt x="0" y="0"/>
                </a:moveTo>
                <a:lnTo>
                  <a:pt x="1268369" y="0"/>
                </a:lnTo>
                <a:lnTo>
                  <a:pt x="1268369" y="1484056"/>
                </a:lnTo>
                <a:lnTo>
                  <a:pt x="0" y="148405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true" rot="0">
            <a:off x="537975" y="8238588"/>
            <a:ext cx="1268369" cy="1484056"/>
          </a:xfrm>
          <a:custGeom>
            <a:avLst/>
            <a:gdLst/>
            <a:ahLst/>
            <a:cxnLst/>
            <a:rect r="r" b="b" t="t" l="l"/>
            <a:pathLst>
              <a:path h="1484056" w="1268369">
                <a:moveTo>
                  <a:pt x="0" y="1484056"/>
                </a:moveTo>
                <a:lnTo>
                  <a:pt x="1268369" y="1484056"/>
                </a:lnTo>
                <a:lnTo>
                  <a:pt x="1268369" y="0"/>
                </a:lnTo>
                <a:lnTo>
                  <a:pt x="0" y="0"/>
                </a:lnTo>
                <a:lnTo>
                  <a:pt x="0" y="1484056"/>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0" id="10"/>
          <p:cNvSpPr/>
          <p:nvPr/>
        </p:nvSpPr>
        <p:spPr>
          <a:xfrm flipH="true" flipV="false" rot="0">
            <a:off x="16213455" y="588768"/>
            <a:ext cx="1268369" cy="1484056"/>
          </a:xfrm>
          <a:custGeom>
            <a:avLst/>
            <a:gdLst/>
            <a:ahLst/>
            <a:cxnLst/>
            <a:rect r="r" b="b" t="t" l="l"/>
            <a:pathLst>
              <a:path h="1484056" w="1268369">
                <a:moveTo>
                  <a:pt x="1268369" y="0"/>
                </a:moveTo>
                <a:lnTo>
                  <a:pt x="0" y="0"/>
                </a:lnTo>
                <a:lnTo>
                  <a:pt x="0" y="1484056"/>
                </a:lnTo>
                <a:lnTo>
                  <a:pt x="1268369" y="1484056"/>
                </a:lnTo>
                <a:lnTo>
                  <a:pt x="1268369"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1" id="11"/>
          <p:cNvSpPr/>
          <p:nvPr/>
        </p:nvSpPr>
        <p:spPr>
          <a:xfrm flipH="true" flipV="true" rot="0">
            <a:off x="16445715" y="8150937"/>
            <a:ext cx="1268369" cy="1484056"/>
          </a:xfrm>
          <a:custGeom>
            <a:avLst/>
            <a:gdLst/>
            <a:ahLst/>
            <a:cxnLst/>
            <a:rect r="r" b="b" t="t" l="l"/>
            <a:pathLst>
              <a:path h="1484056" w="1268369">
                <a:moveTo>
                  <a:pt x="1268368" y="1484056"/>
                </a:moveTo>
                <a:lnTo>
                  <a:pt x="0" y="1484056"/>
                </a:lnTo>
                <a:lnTo>
                  <a:pt x="0" y="0"/>
                </a:lnTo>
                <a:lnTo>
                  <a:pt x="1268368" y="0"/>
                </a:lnTo>
                <a:lnTo>
                  <a:pt x="1268368" y="1484056"/>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2" id="12"/>
          <p:cNvSpPr txBox="true"/>
          <p:nvPr/>
        </p:nvSpPr>
        <p:spPr>
          <a:xfrm rot="0">
            <a:off x="3450687" y="1651700"/>
            <a:ext cx="8890599" cy="1277474"/>
          </a:xfrm>
          <a:prstGeom prst="rect">
            <a:avLst/>
          </a:prstGeom>
        </p:spPr>
        <p:txBody>
          <a:bodyPr anchor="t" rtlCol="false" tIns="0" lIns="0" bIns="0" rIns="0">
            <a:spAutoFit/>
          </a:bodyPr>
          <a:lstStyle/>
          <a:p>
            <a:pPr algn="ctr">
              <a:lnSpc>
                <a:spcPts val="10438"/>
              </a:lnSpc>
            </a:pPr>
            <a:r>
              <a:rPr lang="en-US" b="true" sz="7455">
                <a:solidFill>
                  <a:srgbClr val="545454"/>
                </a:solidFill>
                <a:latin typeface="Noto Serif Devanagari Bold"/>
                <a:ea typeface="Noto Serif Devanagari Bold"/>
                <a:cs typeface="Noto Serif Devanagari Bold"/>
                <a:sym typeface="Noto Serif Devanagari Bold"/>
              </a:rPr>
              <a:t>FUTURE SCOPE</a:t>
            </a:r>
          </a:p>
        </p:txBody>
      </p:sp>
      <p:sp>
        <p:nvSpPr>
          <p:cNvPr name="TextBox 13" id="13"/>
          <p:cNvSpPr txBox="true"/>
          <p:nvPr/>
        </p:nvSpPr>
        <p:spPr>
          <a:xfrm rot="0">
            <a:off x="2074545" y="2872024"/>
            <a:ext cx="14407111" cy="7159628"/>
          </a:xfrm>
          <a:prstGeom prst="rect">
            <a:avLst/>
          </a:prstGeom>
        </p:spPr>
        <p:txBody>
          <a:bodyPr anchor="t" rtlCol="false" tIns="0" lIns="0" bIns="0" rIns="0">
            <a:spAutoFit/>
          </a:bodyPr>
          <a:lstStyle/>
          <a:p>
            <a:pPr algn="just" marL="674659" indent="-337329" lvl="1">
              <a:lnSpc>
                <a:spcPts val="4374"/>
              </a:lnSpc>
              <a:buFont typeface="Arial"/>
              <a:buChar char="•"/>
            </a:pPr>
            <a:r>
              <a:rPr lang="en-US" sz="3124">
                <a:solidFill>
                  <a:srgbClr val="545454"/>
                </a:solidFill>
                <a:latin typeface="Gowun Batang"/>
                <a:ea typeface="Gowun Batang"/>
                <a:cs typeface="Gowun Batang"/>
                <a:sym typeface="Gowun Batang"/>
              </a:rPr>
              <a:t>CerTrack can evolve into a common platform used across multiple institutes, where all student achievements and leave details are visible in one trusted system for teachers, departments, and placement cells.​</a:t>
            </a:r>
          </a:p>
          <a:p>
            <a:pPr algn="just" marL="674659" indent="-337329" lvl="1">
              <a:lnSpc>
                <a:spcPts val="4374"/>
              </a:lnSpc>
              <a:buFont typeface="Arial"/>
              <a:buChar char="•"/>
            </a:pPr>
            <a:r>
              <a:rPr lang="en-US" sz="3124">
                <a:solidFill>
                  <a:srgbClr val="545454"/>
                </a:solidFill>
                <a:latin typeface="Gowun Batang"/>
                <a:ea typeface="Gowun Batang"/>
                <a:cs typeface="Gowun Batang"/>
                <a:sym typeface="Gowun Batang"/>
              </a:rPr>
              <a:t>For students, it can act as a lifelong academic identity, keeping every certificate and activity organized and ready for any opportunity without extra effort.</a:t>
            </a:r>
          </a:p>
          <a:p>
            <a:pPr algn="just" marL="674659" indent="-337329" lvl="1">
              <a:lnSpc>
                <a:spcPts val="4374"/>
              </a:lnSpc>
              <a:buFont typeface="Arial"/>
              <a:buChar char="•"/>
            </a:pPr>
            <a:r>
              <a:rPr lang="en-US" sz="3124">
                <a:solidFill>
                  <a:srgbClr val="545454"/>
                </a:solidFill>
                <a:latin typeface="Gowun Batang"/>
                <a:ea typeface="Gowun Batang"/>
                <a:cs typeface="Gowun Batang"/>
                <a:sym typeface="Gowun Batang"/>
              </a:rPr>
              <a:t>The workflow can become more dynamic with smarter reminders, adaptive resume templates, and dashboards that show strengths, gaps, and suggested next steps.</a:t>
            </a:r>
          </a:p>
          <a:p>
            <a:pPr algn="just" marL="674659" indent="-337329" lvl="1">
              <a:lnSpc>
                <a:spcPts val="4374"/>
              </a:lnSpc>
              <a:buFont typeface="Arial"/>
              <a:buChar char="•"/>
            </a:pPr>
            <a:r>
              <a:rPr lang="en-US" sz="3124">
                <a:solidFill>
                  <a:srgbClr val="545454"/>
                </a:solidFill>
                <a:latin typeface="Gowun Batang"/>
                <a:ea typeface="Gowun Batang"/>
                <a:cs typeface="Gowun Batang"/>
                <a:sym typeface="Gowun Batang"/>
              </a:rPr>
              <a:t>A key future enhancement is integrating the teacher portal with WhatsApp, so a teacher can simply send a student’s USN to a bot and instantly see that student’s details in chat—no logins, no delay.</a:t>
            </a:r>
          </a:p>
          <a:p>
            <a:pPr algn="just">
              <a:lnSpc>
                <a:spcPts val="4374"/>
              </a:lnSpc>
            </a:pPr>
          </a:p>
        </p:txBody>
      </p:sp>
      <p:sp>
        <p:nvSpPr>
          <p:cNvPr name="TextBox 14" id="14"/>
          <p:cNvSpPr txBox="true"/>
          <p:nvPr/>
        </p:nvSpPr>
        <p:spPr>
          <a:xfrm rot="0">
            <a:off x="7895987" y="253331"/>
            <a:ext cx="5693313" cy="821908"/>
          </a:xfrm>
          <a:prstGeom prst="rect">
            <a:avLst/>
          </a:prstGeom>
        </p:spPr>
        <p:txBody>
          <a:bodyPr anchor="t" rtlCol="false" tIns="0" lIns="0" bIns="0" rIns="0">
            <a:spAutoFit/>
          </a:bodyPr>
          <a:lstStyle/>
          <a:p>
            <a:pPr algn="ctr">
              <a:lnSpc>
                <a:spcPts val="3262"/>
              </a:lnSpc>
            </a:pPr>
            <a:r>
              <a:rPr lang="en-US" sz="2861" i="true">
                <a:solidFill>
                  <a:srgbClr val="545454"/>
                </a:solidFill>
                <a:latin typeface="Nunito Sans Italics"/>
                <a:ea typeface="Nunito Sans Italics"/>
                <a:cs typeface="Nunito Sans Italics"/>
                <a:sym typeface="Nunito Sans Italics"/>
              </a:rPr>
              <a:t>Dayananda Sagar Academy of Technology and management</a:t>
            </a:r>
          </a:p>
        </p:txBody>
      </p:sp>
      <p:sp>
        <p:nvSpPr>
          <p:cNvPr name="Freeform 15" id="15"/>
          <p:cNvSpPr/>
          <p:nvPr/>
        </p:nvSpPr>
        <p:spPr>
          <a:xfrm flipH="false" flipV="false" rot="0">
            <a:off x="5961028" y="0"/>
            <a:ext cx="1611108" cy="1611108"/>
          </a:xfrm>
          <a:custGeom>
            <a:avLst/>
            <a:gdLst/>
            <a:ahLst/>
            <a:cxnLst/>
            <a:rect r="r" b="b" t="t" l="l"/>
            <a:pathLst>
              <a:path h="1611108" w="1611108">
                <a:moveTo>
                  <a:pt x="0" y="0"/>
                </a:moveTo>
                <a:lnTo>
                  <a:pt x="1611109" y="0"/>
                </a:lnTo>
                <a:lnTo>
                  <a:pt x="1611109" y="1611108"/>
                </a:lnTo>
                <a:lnTo>
                  <a:pt x="0" y="1611108"/>
                </a:lnTo>
                <a:lnTo>
                  <a:pt x="0" y="0"/>
                </a:lnTo>
                <a:close/>
              </a:path>
            </a:pathLst>
          </a:custGeom>
          <a:blipFill>
            <a:blip r:embed="rId8"/>
            <a:stretch>
              <a:fillRect l="0" t="0" r="0" b="0"/>
            </a:stretch>
          </a:blipFill>
        </p:spPr>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EEEFF4"/>
        </a:solidFill>
      </p:bgPr>
    </p:bg>
    <p:spTree>
      <p:nvGrpSpPr>
        <p:cNvPr id="1" name=""/>
        <p:cNvGrpSpPr/>
        <p:nvPr/>
      </p:nvGrpSpPr>
      <p:grpSpPr>
        <a:xfrm>
          <a:off x="0" y="0"/>
          <a:ext cx="0" cy="0"/>
          <a:chOff x="0" y="0"/>
          <a:chExt cx="0" cy="0"/>
        </a:xfrm>
      </p:grpSpPr>
      <p:sp>
        <p:nvSpPr>
          <p:cNvPr name="Freeform 2" id="2"/>
          <p:cNvSpPr/>
          <p:nvPr/>
        </p:nvSpPr>
        <p:spPr>
          <a:xfrm flipH="false" flipV="false" rot="0">
            <a:off x="528638" y="564356"/>
            <a:ext cx="4149089" cy="2661592"/>
          </a:xfrm>
          <a:custGeom>
            <a:avLst/>
            <a:gdLst/>
            <a:ahLst/>
            <a:cxnLst/>
            <a:rect r="r" b="b" t="t" l="l"/>
            <a:pathLst>
              <a:path h="2661592" w="4149089">
                <a:moveTo>
                  <a:pt x="0" y="0"/>
                </a:moveTo>
                <a:lnTo>
                  <a:pt x="4149089" y="0"/>
                </a:lnTo>
                <a:lnTo>
                  <a:pt x="4149089" y="2661592"/>
                </a:lnTo>
                <a:lnTo>
                  <a:pt x="0" y="26615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3610273" y="7061052"/>
            <a:ext cx="4149089" cy="2661592"/>
          </a:xfrm>
          <a:custGeom>
            <a:avLst/>
            <a:gdLst/>
            <a:ahLst/>
            <a:cxnLst/>
            <a:rect r="r" b="b" t="t" l="l"/>
            <a:pathLst>
              <a:path h="2661592" w="4149089">
                <a:moveTo>
                  <a:pt x="4149089" y="2661592"/>
                </a:moveTo>
                <a:lnTo>
                  <a:pt x="0" y="2661592"/>
                </a:lnTo>
                <a:lnTo>
                  <a:pt x="0" y="0"/>
                </a:lnTo>
                <a:lnTo>
                  <a:pt x="4149089" y="0"/>
                </a:lnTo>
                <a:lnTo>
                  <a:pt x="4149089" y="2661592"/>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true" rot="0">
            <a:off x="528638" y="7061052"/>
            <a:ext cx="4149089" cy="2661592"/>
          </a:xfrm>
          <a:custGeom>
            <a:avLst/>
            <a:gdLst/>
            <a:ahLst/>
            <a:cxnLst/>
            <a:rect r="r" b="b" t="t" l="l"/>
            <a:pathLst>
              <a:path h="2661592" w="4149089">
                <a:moveTo>
                  <a:pt x="0" y="2661592"/>
                </a:moveTo>
                <a:lnTo>
                  <a:pt x="4149089" y="2661592"/>
                </a:lnTo>
                <a:lnTo>
                  <a:pt x="4149089" y="0"/>
                </a:lnTo>
                <a:lnTo>
                  <a:pt x="0" y="0"/>
                </a:lnTo>
                <a:lnTo>
                  <a:pt x="0" y="2661592"/>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true" flipV="false" rot="0">
            <a:off x="13610273" y="564356"/>
            <a:ext cx="4149089" cy="2661592"/>
          </a:xfrm>
          <a:custGeom>
            <a:avLst/>
            <a:gdLst/>
            <a:ahLst/>
            <a:cxnLst/>
            <a:rect r="r" b="b" t="t" l="l"/>
            <a:pathLst>
              <a:path h="2661592" w="4149089">
                <a:moveTo>
                  <a:pt x="4149089" y="0"/>
                </a:moveTo>
                <a:lnTo>
                  <a:pt x="0" y="0"/>
                </a:lnTo>
                <a:lnTo>
                  <a:pt x="0" y="2661592"/>
                </a:lnTo>
                <a:lnTo>
                  <a:pt x="4149089" y="2661592"/>
                </a:lnTo>
                <a:lnTo>
                  <a:pt x="4149089"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3691695" y="4096430"/>
            <a:ext cx="4720395" cy="2094139"/>
          </a:xfrm>
          <a:custGeom>
            <a:avLst/>
            <a:gdLst/>
            <a:ahLst/>
            <a:cxnLst/>
            <a:rect r="r" b="b" t="t" l="l"/>
            <a:pathLst>
              <a:path h="2094139" w="4720395">
                <a:moveTo>
                  <a:pt x="0" y="0"/>
                </a:moveTo>
                <a:lnTo>
                  <a:pt x="4720395" y="0"/>
                </a:lnTo>
                <a:lnTo>
                  <a:pt x="4720395" y="2094140"/>
                </a:lnTo>
                <a:lnTo>
                  <a:pt x="0" y="209414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17259300" y="4096430"/>
            <a:ext cx="4720395" cy="2094139"/>
          </a:xfrm>
          <a:custGeom>
            <a:avLst/>
            <a:gdLst/>
            <a:ahLst/>
            <a:cxnLst/>
            <a:rect r="r" b="b" t="t" l="l"/>
            <a:pathLst>
              <a:path h="2094139" w="4720395">
                <a:moveTo>
                  <a:pt x="0" y="0"/>
                </a:moveTo>
                <a:lnTo>
                  <a:pt x="4720395" y="0"/>
                </a:lnTo>
                <a:lnTo>
                  <a:pt x="4720395" y="2094140"/>
                </a:lnTo>
                <a:lnTo>
                  <a:pt x="0" y="209414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1028700" y="1028700"/>
            <a:ext cx="1268369" cy="1484056"/>
          </a:xfrm>
          <a:custGeom>
            <a:avLst/>
            <a:gdLst/>
            <a:ahLst/>
            <a:cxnLst/>
            <a:rect r="r" b="b" t="t" l="l"/>
            <a:pathLst>
              <a:path h="1484056" w="1268369">
                <a:moveTo>
                  <a:pt x="0" y="0"/>
                </a:moveTo>
                <a:lnTo>
                  <a:pt x="1268369" y="0"/>
                </a:lnTo>
                <a:lnTo>
                  <a:pt x="1268369" y="1484056"/>
                </a:lnTo>
                <a:lnTo>
                  <a:pt x="0" y="148405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true" rot="0">
            <a:off x="1028700" y="7774244"/>
            <a:ext cx="1268369" cy="1484056"/>
          </a:xfrm>
          <a:custGeom>
            <a:avLst/>
            <a:gdLst/>
            <a:ahLst/>
            <a:cxnLst/>
            <a:rect r="r" b="b" t="t" l="l"/>
            <a:pathLst>
              <a:path h="1484056" w="1268369">
                <a:moveTo>
                  <a:pt x="0" y="1484056"/>
                </a:moveTo>
                <a:lnTo>
                  <a:pt x="1268369" y="1484056"/>
                </a:lnTo>
                <a:lnTo>
                  <a:pt x="1268369" y="0"/>
                </a:lnTo>
                <a:lnTo>
                  <a:pt x="0" y="0"/>
                </a:lnTo>
                <a:lnTo>
                  <a:pt x="0" y="1484056"/>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0" id="10"/>
          <p:cNvSpPr/>
          <p:nvPr/>
        </p:nvSpPr>
        <p:spPr>
          <a:xfrm flipH="true" flipV="false" rot="0">
            <a:off x="15990931" y="1028700"/>
            <a:ext cx="1268369" cy="1484056"/>
          </a:xfrm>
          <a:custGeom>
            <a:avLst/>
            <a:gdLst/>
            <a:ahLst/>
            <a:cxnLst/>
            <a:rect r="r" b="b" t="t" l="l"/>
            <a:pathLst>
              <a:path h="1484056" w="1268369">
                <a:moveTo>
                  <a:pt x="1268369" y="0"/>
                </a:moveTo>
                <a:lnTo>
                  <a:pt x="0" y="0"/>
                </a:lnTo>
                <a:lnTo>
                  <a:pt x="0" y="1484056"/>
                </a:lnTo>
                <a:lnTo>
                  <a:pt x="1268369" y="1484056"/>
                </a:lnTo>
                <a:lnTo>
                  <a:pt x="1268369"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1" id="11"/>
          <p:cNvSpPr/>
          <p:nvPr/>
        </p:nvSpPr>
        <p:spPr>
          <a:xfrm flipH="true" flipV="true" rot="0">
            <a:off x="15990931" y="7774244"/>
            <a:ext cx="1268369" cy="1484056"/>
          </a:xfrm>
          <a:custGeom>
            <a:avLst/>
            <a:gdLst/>
            <a:ahLst/>
            <a:cxnLst/>
            <a:rect r="r" b="b" t="t" l="l"/>
            <a:pathLst>
              <a:path h="1484056" w="1268369">
                <a:moveTo>
                  <a:pt x="1268369" y="1484056"/>
                </a:moveTo>
                <a:lnTo>
                  <a:pt x="0" y="1484056"/>
                </a:lnTo>
                <a:lnTo>
                  <a:pt x="0" y="0"/>
                </a:lnTo>
                <a:lnTo>
                  <a:pt x="1268369" y="0"/>
                </a:lnTo>
                <a:lnTo>
                  <a:pt x="1268369" y="1484056"/>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2" id="12"/>
          <p:cNvSpPr txBox="true"/>
          <p:nvPr/>
        </p:nvSpPr>
        <p:spPr>
          <a:xfrm rot="0">
            <a:off x="3056053" y="4195805"/>
            <a:ext cx="12175895" cy="1704889"/>
          </a:xfrm>
          <a:prstGeom prst="rect">
            <a:avLst/>
          </a:prstGeom>
        </p:spPr>
        <p:txBody>
          <a:bodyPr anchor="t" rtlCol="false" tIns="0" lIns="0" bIns="0" rIns="0">
            <a:spAutoFit/>
          </a:bodyPr>
          <a:lstStyle/>
          <a:p>
            <a:pPr algn="ctr">
              <a:lnSpc>
                <a:spcPts val="13911"/>
              </a:lnSpc>
            </a:pPr>
            <a:r>
              <a:rPr lang="en-US" b="true" sz="9936">
                <a:solidFill>
                  <a:srgbClr val="545454"/>
                </a:solidFill>
                <a:latin typeface="Noto Serif Devanagari Bold"/>
                <a:ea typeface="Noto Serif Devanagari Bold"/>
                <a:cs typeface="Noto Serif Devanagari Bold"/>
                <a:sym typeface="Noto Serif Devanagari Bold"/>
              </a:rPr>
              <a:t>THANK YOU</a:t>
            </a:r>
          </a:p>
        </p:txBody>
      </p:sp>
      <p:sp>
        <p:nvSpPr>
          <p:cNvPr name="TextBox 13" id="13"/>
          <p:cNvSpPr txBox="true"/>
          <p:nvPr/>
        </p:nvSpPr>
        <p:spPr>
          <a:xfrm rot="0">
            <a:off x="6969976" y="761836"/>
            <a:ext cx="4348047" cy="1231483"/>
          </a:xfrm>
          <a:prstGeom prst="rect">
            <a:avLst/>
          </a:prstGeom>
        </p:spPr>
        <p:txBody>
          <a:bodyPr anchor="t" rtlCol="false" tIns="0" lIns="0" bIns="0" rIns="0">
            <a:spAutoFit/>
          </a:bodyPr>
          <a:lstStyle/>
          <a:p>
            <a:pPr algn="ctr">
              <a:lnSpc>
                <a:spcPts val="3262"/>
              </a:lnSpc>
            </a:pPr>
            <a:r>
              <a:rPr lang="en-US" sz="2861" i="true">
                <a:solidFill>
                  <a:srgbClr val="545454"/>
                </a:solidFill>
                <a:latin typeface="Nunito Sans Italics"/>
                <a:ea typeface="Nunito Sans Italics"/>
                <a:cs typeface="Nunito Sans Italics"/>
                <a:sym typeface="Nunito Sans Italics"/>
              </a:rPr>
              <a:t>Dayananda Sagar Academy of Technology and management</a:t>
            </a:r>
          </a:p>
        </p:txBody>
      </p:sp>
      <p:sp>
        <p:nvSpPr>
          <p:cNvPr name="Freeform 14" id="14"/>
          <p:cNvSpPr/>
          <p:nvPr/>
        </p:nvSpPr>
        <p:spPr>
          <a:xfrm flipH="false" flipV="false" rot="0">
            <a:off x="5358868" y="382211"/>
            <a:ext cx="1611108" cy="1611108"/>
          </a:xfrm>
          <a:custGeom>
            <a:avLst/>
            <a:gdLst/>
            <a:ahLst/>
            <a:cxnLst/>
            <a:rect r="r" b="b" t="t" l="l"/>
            <a:pathLst>
              <a:path h="1611108" w="1611108">
                <a:moveTo>
                  <a:pt x="0" y="0"/>
                </a:moveTo>
                <a:lnTo>
                  <a:pt x="1611108" y="0"/>
                </a:lnTo>
                <a:lnTo>
                  <a:pt x="1611108" y="1611108"/>
                </a:lnTo>
                <a:lnTo>
                  <a:pt x="0" y="1611108"/>
                </a:lnTo>
                <a:lnTo>
                  <a:pt x="0" y="0"/>
                </a:lnTo>
                <a:close/>
              </a:path>
            </a:pathLst>
          </a:custGeom>
          <a:blipFill>
            <a:blip r:embed="rId8"/>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DAG_vIxMOa4</dc:identifier>
  <dcterms:modified xsi:type="dcterms:W3CDTF">2011-08-01T06:04:30Z</dcterms:modified>
  <cp:revision>1</cp:revision>
  <dc:title>Certrack</dc:title>
</cp:coreProperties>
</file>